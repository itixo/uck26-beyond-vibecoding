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62" r:id="rId2"/>
    <p:sldId id="270" r:id="rId3"/>
    <p:sldId id="268" r:id="rId4"/>
    <p:sldId id="269" r:id="rId5"/>
    <p:sldId id="288" r:id="rId6"/>
    <p:sldId id="258" r:id="rId7"/>
    <p:sldId id="271" r:id="rId8"/>
    <p:sldId id="272" r:id="rId9"/>
    <p:sldId id="289" r:id="rId10"/>
    <p:sldId id="273" r:id="rId11"/>
    <p:sldId id="287" r:id="rId12"/>
    <p:sldId id="275" r:id="rId13"/>
    <p:sldId id="276" r:id="rId14"/>
    <p:sldId id="277" r:id="rId15"/>
    <p:sldId id="278" r:id="rId16"/>
    <p:sldId id="290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61" r:id="rId25"/>
    <p:sldId id="29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6E1"/>
    <a:srgbClr val="F5F0E0"/>
    <a:srgbClr val="FDE0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3"/>
    <p:restoredTop sz="53562"/>
  </p:normalViewPr>
  <p:slideViewPr>
    <p:cSldViewPr snapToGrid="0">
      <p:cViewPr varScale="1">
        <p:scale>
          <a:sx n="65" d="100"/>
          <a:sy n="65" d="100"/>
        </p:scale>
        <p:origin x="300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55" d="100"/>
          <a:sy n="155" d="100"/>
        </p:scale>
        <p:origin x="691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FCC63-3CF7-0C4C-AF97-B6C9971304CE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E188E-CA69-D445-BC31-50D7630D3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86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E188E-CA69-D445-BC31-50D7630D368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993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E188E-CA69-D445-BC31-50D7630D368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413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E188E-CA69-D445-BC31-50D7630D368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187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E188E-CA69-D445-BC31-50D7630D368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658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016C9-50CB-C52F-F326-25276A2E5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6563F-44CF-000C-5C8D-FF5E5D9AD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C6E9A-14BE-2AED-6772-B1E2710B8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F46D4-B3BB-66D8-DD06-A8150F4C4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E188E-CA69-D445-BC31-50D7630D368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088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E188E-CA69-D445-BC31-50D7630D368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200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E188E-CA69-D445-BC31-50D7630D368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189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E188E-CA69-D445-BC31-50D7630D36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134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065E7-0CBE-6161-88AB-AA64051A9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26336D-0D5E-E9E8-E557-DF3B4E99F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2A8BC-C13A-960D-C6CB-ACBE8B5E2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44F92-1528-2F34-DE49-5276E155DA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E188E-CA69-D445-BC31-50D7630D368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268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1DD3D-A8C7-435A-9592-7745C7B0B046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49503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1DD3D-A8C7-435A-9592-7745C7B0B046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49503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1DD3D-A8C7-435A-9592-7745C7B0B046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49503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2F10B-2BBA-7C0D-EB9E-98C6CED72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6BADF-7A4C-2382-2D37-942F3413F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4A8D3-23BF-9D4B-B7EC-3061ACF2C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8D944-D6CA-655B-67CA-CBB0944BD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1DD3D-A8C7-435A-9592-7745C7B0B046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75779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9F13E-9876-0871-C1E5-0787C8966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A8A54-6AAE-21FA-E006-E34D23057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6E55EC-1063-0E35-9B7A-E978C0041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ECC4-D796-132C-AE61-78BBCFC1A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1DD3D-A8C7-435A-9592-7745C7B0B046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99675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703E3-8507-11D7-8A45-F3D1D4D1A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E0A811-D58A-D7D8-C0AE-C4B7E8718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D44B19-F9DC-621E-F1FB-B21A7A088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191AF-8C84-A44E-606D-32D7633C7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1DD3D-A8C7-435A-9592-7745C7B0B046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27951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9A73C-2AFF-63F2-2B67-CA6A7D3A3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1B4D60-CAA2-C616-0FB5-1D224208D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BDE36-9EE0-EE57-7608-7B7492E22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49EE8-C28C-5883-23C7-F1B9CC80D8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E188E-CA69-D445-BC31-50D7630D368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7692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4160D-9C44-0339-DE34-FBA5823A7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7CB9B-0456-33E2-40EF-356295216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01BF3-19E7-4D24-792E-59A8F3BBF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C20A5-6EA8-7A49-A07B-C100F24B7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E188E-CA69-D445-BC31-50D7630D368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0073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305E7-4932-5320-AFE3-18F7334CA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C8A534-0282-108E-094C-207D96E62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B4AB9A-A3D8-D5C6-A2E9-E94B3470B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CEA94-F8A7-84E2-358B-F00C897C1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1DD3D-A8C7-435A-9592-7745C7B0B046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17486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0C417-7EBE-B54A-22BD-E1F5ED90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AD9300-BB41-E131-B6BF-AA1DDB0755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C8D6A5-7E9E-1CBE-C854-F4D23C928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E8E91-278A-651B-732A-3B8478ECD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1DD3D-A8C7-435A-9592-7745C7B0B046}" type="slidenum">
              <a:rPr lang="cs-CZ" smtClean="0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180928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68848-0536-0D92-6F2E-B838B77DD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5C095-47DC-FABC-FE0B-169DF9FE4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0D83A-541A-AF4F-ED73-BDF3A6B00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09F10-80C8-11DD-54BB-FC4D505CE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1DD3D-A8C7-435A-9592-7745C7B0B046}" type="slidenum">
              <a:rPr lang="cs-CZ" smtClean="0"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62209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FE508-05FA-0EE7-0C03-D78209EFA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7395A9-3A58-75BD-F470-5162F40AD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D24A40-BA34-D29F-0BAC-197290D06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C47B8-86BB-CD04-5730-C9049DCEA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1DD3D-A8C7-435A-9592-7745C7B0B046}" type="slidenum">
              <a:rPr lang="cs-CZ" smtClean="0"/>
              <a:t>21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278655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4A1B8-3CF6-C31B-01A4-F88834C9B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AB285-4F16-FAB9-B5BD-546DAD737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55779E-01CE-E38C-2CC5-D221D4F04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43A1A-6F95-C06A-029D-2B26DD2A0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1DD3D-A8C7-435A-9592-7745C7B0B046}" type="slidenum">
              <a:rPr lang="cs-CZ" smtClean="0"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45679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4E472-3A83-ECD2-FC9E-C97FBD455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AC4EC6-FA7B-FC39-4FF5-818E16DAD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56A97-1CA8-ED32-BF00-3D856C86A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61FB9-DB5F-7C16-6795-4A295E87B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1DD3D-A8C7-435A-9592-7745C7B0B046}" type="slidenum">
              <a:rPr lang="cs-CZ" smtClean="0"/>
              <a:t>23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40596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1DD3D-A8C7-435A-9592-7745C7B0B046}" type="slidenum">
              <a:rPr lang="cs-CZ" smtClean="0"/>
              <a:t>24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80238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E188E-CA69-D445-BC31-50D7630D368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34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C9AA8-00CA-454B-9068-0F5E83645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98083-F5A6-3860-8096-91BD08D8F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4BA78-7016-85FA-1FEA-4F0D31772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A19A2-235D-3F46-BCEA-C501D70C54EF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4A3B6-821F-CB4A-F42B-15E55D1CB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B51F9-DF28-B9CB-0A15-004A8CB8E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1B97-29AB-C044-9D1C-DA6336F1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45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9028-C2BD-5035-CA28-29C4A1578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3616A-A961-EEAD-3877-4086FA005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56DA8-68B1-6E99-E8F9-A75DE101D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A19A2-235D-3F46-BCEA-C501D70C54EF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5AF1C-9A31-4DBF-6506-B7AF1C887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454C7-DA0A-E89A-BFBC-AB489A043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1B97-29AB-C044-9D1C-DA6336F1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41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6CACC-E8E7-0158-A977-525A2D61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7C41F-5BA4-0BB1-4909-BDF880163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3C983-4621-4600-6DAB-AC7AA4C69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A19A2-235D-3F46-BCEA-C501D70C54EF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B533F-6ACC-660B-4B54-4C9650D5B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ACBD4-16EA-A7D8-341F-47CC43EC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1B97-29AB-C044-9D1C-DA6336F1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85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0A7D3-31D2-2FD0-8B1B-58706C601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911F9-F8A5-9A2B-85FF-59B3BC3469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82C0A-0F54-3F18-9775-4859FCF76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DB61C-D6E6-2937-7BD0-984E2C03D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A19A2-235D-3F46-BCEA-C501D70C54EF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7595E-56C6-DA51-41C0-0EEBDE16E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C4AEC-5D16-2410-D434-D24BC6E38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1B97-29AB-C044-9D1C-DA6336F1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981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C9206-C438-7292-7CE9-8BE669D49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84B36-DA1C-9134-CC2C-D4E9EB97C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705D5-8BE7-C5BD-13BC-FAFB927E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3A20CA-73F4-DD92-F04F-44F2D8E14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2B4D71-C507-69B3-CB09-FFD46AE4E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F9460D-6574-F57D-5D64-AA1067990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A19A2-235D-3F46-BCEA-C501D70C54EF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343055-E2FA-03E9-EFFC-EC59351DE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BFAB68-B745-52DF-C4DB-7F28C522B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1B97-29AB-C044-9D1C-DA6336F1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05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EA548-F0EF-39CA-0A5E-D39E93BC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1DE3ED-957B-B179-AB4E-75C9DB28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A19A2-235D-3F46-BCEA-C501D70C54EF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557FE-0AC0-DC48-7595-B71093E1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5FD58-23A2-E5A7-876A-EB9885557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1B97-29AB-C044-9D1C-DA6336F1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932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C477D1-61FE-171D-1AA0-234D8C835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A19A2-235D-3F46-BCEA-C501D70C54EF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594A4D-29FD-F30B-CA08-B0276127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F03E2-48C4-05E7-A426-D9DDBF537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1B97-29AB-C044-9D1C-DA6336F1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0476-F340-F95A-0BAB-8FF99D256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BF3E2-44FD-2BEF-3509-ABD010079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83F848-F2B8-7223-DD44-D29C25E55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84CD6-D71E-E758-F84D-ABC2BA7A3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A19A2-235D-3F46-BCEA-C501D70C54EF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48BA7-ECA6-0F20-FB41-14288DB7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539BE-C40E-CC21-DDD3-931C55C9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1B97-29AB-C044-9D1C-DA6336F1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97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7B10E-2E6D-5A1E-39EE-B303DA0CF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7F0804-D0C1-2FA5-A793-96016233A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6D0D7-A79A-3FEF-D629-32FDCD2E4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D5640-1C65-690C-DDC6-25A4EBF4B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A19A2-235D-3F46-BCEA-C501D70C54EF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3572C-00AF-7795-D3E5-63DC72C9F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D5119-3642-1794-7BDA-DF22DD8BE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1B97-29AB-C044-9D1C-DA6336F1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21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A7656-5EC5-3DA4-BE4B-2F7AE9D6F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FE5D8-6DF9-4CDC-0E40-1EF44957D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2137B-3098-6EF1-A38A-E8370B399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A19A2-235D-3F46-BCEA-C501D70C54EF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266D0-FC39-CF75-1BB0-CB474722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DB89E-B5EA-2D2E-651C-C8E3BA8B9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1B97-29AB-C044-9D1C-DA6336F1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4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D944E-909B-C581-7E1F-9BB973C67E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AE460-C848-CDE2-03E2-A348146AE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ED342-F642-6C6B-66FB-CEA37F7DA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A19A2-235D-3F46-BCEA-C501D70C54EF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9A369-C488-9EF6-D127-CE7EC495E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DDCF1-8488-4D06-852A-D3210F502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1B97-29AB-C044-9D1C-DA6336F1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03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Obsah obrázku hák, design&#10;&#10;Popis byl vytvořen automaticky">
            <a:extLst>
              <a:ext uri="{FF2B5EF4-FFF2-40B4-BE49-F238E27FC236}">
                <a16:creationId xmlns:a16="http://schemas.microsoft.com/office/drawing/2014/main" id="{B217928E-1BCD-57AB-E15F-107279254F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59116E4-6F6A-4236-B205-7EBF81DEDD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195020"/>
            <a:ext cx="5428591" cy="838233"/>
          </a:xfrm>
        </p:spPr>
        <p:txBody>
          <a:bodyPr anchor="ctr"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Aptos SemiBold" panose="020B0004020202020204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dirty="0"/>
              <a:t>Type your </a:t>
            </a:r>
            <a:r>
              <a:rPr lang="en-US" dirty="0" err="1"/>
              <a:t>ti</a:t>
            </a:r>
            <a:r>
              <a:rPr lang="cs-CZ" dirty="0"/>
              <a:t>t</a:t>
            </a:r>
            <a:r>
              <a:rPr lang="en-US" dirty="0"/>
              <a:t>le here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CD1CE4D-5AA3-4F8D-BB4D-E04B1498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16" name="Zástupný text 13">
            <a:extLst>
              <a:ext uri="{FF2B5EF4-FFF2-40B4-BE49-F238E27FC236}">
                <a16:creationId xmlns:a16="http://schemas.microsoft.com/office/drawing/2014/main" id="{845418B6-3F48-4BB3-95CD-B33ACDC2F1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1375" y="4764898"/>
            <a:ext cx="5425313" cy="488140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FDAD00"/>
                </a:solidFill>
                <a:latin typeface="Aptos SemiBold" panose="020B0004020202020204" pitchFamily="34" charset="0"/>
              </a:defRPr>
            </a:lvl1pPr>
          </a:lstStyle>
          <a:p>
            <a:pPr lvl="0"/>
            <a:r>
              <a:rPr lang="cs-CZ" dirty="0"/>
              <a:t>Name</a:t>
            </a:r>
          </a:p>
        </p:txBody>
      </p:sp>
      <p:sp>
        <p:nvSpPr>
          <p:cNvPr id="13" name="Zástupný text 11">
            <a:extLst>
              <a:ext uri="{FF2B5EF4-FFF2-40B4-BE49-F238E27FC236}">
                <a16:creationId xmlns:a16="http://schemas.microsoft.com/office/drawing/2014/main" id="{966569C8-862A-4685-AF99-952DCD94A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334226"/>
            <a:ext cx="5425313" cy="838233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2774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Job title, Company</a:t>
            </a:r>
            <a:endParaRPr lang="cs-CZ" dirty="0"/>
          </a:p>
        </p:txBody>
      </p:sp>
      <p:sp>
        <p:nvSpPr>
          <p:cNvPr id="11" name="Zástupný text 10">
            <a:extLst>
              <a:ext uri="{FF2B5EF4-FFF2-40B4-BE49-F238E27FC236}">
                <a16:creationId xmlns:a16="http://schemas.microsoft.com/office/drawing/2014/main" id="{AD69D3F0-602C-E074-5180-B4AF8F42B7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3187875"/>
            <a:ext cx="5429250" cy="711200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cs-CZ" dirty="0" err="1"/>
              <a:t>Lorem</a:t>
            </a:r>
            <a:r>
              <a:rPr lang="cs-CZ" dirty="0"/>
              <a:t> </a:t>
            </a:r>
            <a:r>
              <a:rPr lang="cs-CZ" dirty="0" err="1"/>
              <a:t>Ipsum</a:t>
            </a:r>
            <a:endParaRPr lang="cs-CZ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52F2B4B5-C848-AAA5-590E-62C955AA59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89" y="962449"/>
            <a:ext cx="3183741" cy="59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33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rázek 11" descr="Obsah obrázku mrakodrap, budova, mlha&#10;&#10;Popis byl vytvořen automaticky">
            <a:extLst>
              <a:ext uri="{FF2B5EF4-FFF2-40B4-BE49-F238E27FC236}">
                <a16:creationId xmlns:a16="http://schemas.microsoft.com/office/drawing/2014/main" id="{DF27DB7E-159D-BF57-82CE-D268F4CBB3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4B64A33A-BCE6-454E-A148-C2BC6C5F59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numCol="1"/>
          <a:lstStyle>
            <a:lvl1pPr algn="ctr">
              <a:defRPr>
                <a:solidFill>
                  <a:schemeClr val="tx1"/>
                </a:solidFill>
                <a:latin typeface="Aptos SemiBold" panose="020B0004020202020204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dirty="0"/>
              <a:t>Title</a:t>
            </a:r>
            <a:endParaRPr lang="cs-CZ" dirty="0"/>
          </a:p>
        </p:txBody>
      </p:sp>
      <p:sp>
        <p:nvSpPr>
          <p:cNvPr id="3" name="Zástupný symbol pro datum 1">
            <a:extLst>
              <a:ext uri="{FF2B5EF4-FFF2-40B4-BE49-F238E27FC236}">
                <a16:creationId xmlns:a16="http://schemas.microsoft.com/office/drawing/2014/main" id="{C3CAC533-5FD2-BB4A-6849-7EA7B648BD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8" name="Zástupný symbol pro zápatí 2">
            <a:extLst>
              <a:ext uri="{FF2B5EF4-FFF2-40B4-BE49-F238E27FC236}">
                <a16:creationId xmlns:a16="http://schemas.microsoft.com/office/drawing/2014/main" id="{270FF8D9-8840-98F0-F351-4DA76880F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2D3F1DB4-97D2-592E-66A0-ED7D5F9C59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1887538"/>
            <a:ext cx="10515600" cy="3954462"/>
          </a:xfrm>
        </p:spPr>
        <p:txBody>
          <a:bodyPr/>
          <a:lstStyle>
            <a:lvl1pPr>
              <a:buClr>
                <a:srgbClr val="FDAD00"/>
              </a:buClr>
              <a:defRPr>
                <a:latin typeface="+mn-lt"/>
              </a:defRPr>
            </a:lvl1pPr>
          </a:lstStyle>
          <a:p>
            <a:pPr lvl="0"/>
            <a:r>
              <a:rPr lang="cs-CZ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880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 descr="Obsah obrázku snímek obrazovky, černá&#10;&#10;Popis byl vytvořen automaticky">
            <a:extLst>
              <a:ext uri="{FF2B5EF4-FFF2-40B4-BE49-F238E27FC236}">
                <a16:creationId xmlns:a16="http://schemas.microsoft.com/office/drawing/2014/main" id="{86E7B99C-0191-CCEF-19AA-9CA0DA4794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4B64A33A-BCE6-454E-A148-C2BC6C5F59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numCol="1"/>
          <a:lstStyle>
            <a:lvl1pPr algn="ctr">
              <a:defRPr>
                <a:solidFill>
                  <a:schemeClr val="bg1"/>
                </a:solidFill>
                <a:latin typeface="Aptos SemiBold" panose="020B0004020202020204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dirty="0"/>
              <a:t>Title</a:t>
            </a:r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33A0526-E99A-4184-9EBB-B3AD1AC6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906A7-2EE8-4435-808F-0C317E75D4DD}" type="datetime1">
              <a:rPr lang="cs-CZ" smtClean="0"/>
              <a:t>29.05.2026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A255894-027D-4BEA-BD5C-9DFF9D3A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0" name="Zástupný obsah 7">
            <a:extLst>
              <a:ext uri="{FF2B5EF4-FFF2-40B4-BE49-F238E27FC236}">
                <a16:creationId xmlns:a16="http://schemas.microsoft.com/office/drawing/2014/main" id="{5D08F643-AF14-49BF-AB29-B51882FFC92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912690"/>
            <a:ext cx="10515600" cy="3921182"/>
          </a:xfrm>
        </p:spPr>
        <p:txBody>
          <a:bodyPr>
            <a:normAutofit/>
          </a:bodyPr>
          <a:lstStyle>
            <a:lvl1pPr>
              <a:buClr>
                <a:srgbClr val="FDAD00"/>
              </a:buClr>
              <a:defRPr sz="28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cs-CZ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389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Obrázek 19" descr="Obsah obrázku hák, design&#10;&#10;Obsah vygenerovaný umělou inteligencí může být nesprávný.">
            <a:extLst>
              <a:ext uri="{FF2B5EF4-FFF2-40B4-BE49-F238E27FC236}">
                <a16:creationId xmlns:a16="http://schemas.microsoft.com/office/drawing/2014/main" id="{8FF3AF77-790D-6958-5C94-99EA4C65ED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59116E4-6F6A-4236-B205-7EBF81DEDD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778" y="2395649"/>
            <a:ext cx="5262222" cy="1944084"/>
          </a:xfrm>
        </p:spPr>
        <p:txBody>
          <a:bodyPr anchor="ctr"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Thank You Note</a:t>
            </a:r>
            <a:endParaRPr lang="cs-CZ" dirty="0"/>
          </a:p>
        </p:txBody>
      </p:sp>
      <p:sp>
        <p:nvSpPr>
          <p:cNvPr id="15" name="Zástupný text 9">
            <a:extLst>
              <a:ext uri="{FF2B5EF4-FFF2-40B4-BE49-F238E27FC236}">
                <a16:creationId xmlns:a16="http://schemas.microsoft.com/office/drawing/2014/main" id="{C5ACBB49-9197-4A51-833A-05D4390975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8067" y="5176287"/>
            <a:ext cx="1844212" cy="49371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Aptos SemiBold" panose="020B0004020202020204" pitchFamily="34" charset="0"/>
              </a:defRPr>
            </a:lvl1pPr>
          </a:lstStyle>
          <a:p>
            <a:pPr lvl="0"/>
            <a:r>
              <a:rPr lang="en-US" dirty="0"/>
              <a:t>X</a:t>
            </a:r>
            <a:endParaRPr lang="cs-CZ" dirty="0"/>
          </a:p>
        </p:txBody>
      </p:sp>
      <p:sp>
        <p:nvSpPr>
          <p:cNvPr id="17" name="Zástupný text 9">
            <a:extLst>
              <a:ext uri="{FF2B5EF4-FFF2-40B4-BE49-F238E27FC236}">
                <a16:creationId xmlns:a16="http://schemas.microsoft.com/office/drawing/2014/main" id="{5ED8E78F-D232-5BA9-44BC-3D0F2CFCE0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43276" y="5176287"/>
            <a:ext cx="1844212" cy="49371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Aptos SemiBold" panose="020B0004020202020204" pitchFamily="34" charset="0"/>
              </a:defRPr>
            </a:lvl1pPr>
          </a:lstStyle>
          <a:p>
            <a:pPr lvl="0"/>
            <a:r>
              <a:rPr lang="cs-CZ" dirty="0"/>
              <a:t>LinkedIn</a:t>
            </a:r>
          </a:p>
        </p:txBody>
      </p:sp>
      <p:pic>
        <p:nvPicPr>
          <p:cNvPr id="18" name="Grafický objekt 17">
            <a:extLst>
              <a:ext uri="{FF2B5EF4-FFF2-40B4-BE49-F238E27FC236}">
                <a16:creationId xmlns:a16="http://schemas.microsoft.com/office/drawing/2014/main" id="{05C0BE42-599B-AB7A-E0A5-0CD07FF6F9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9153" y="5235877"/>
            <a:ext cx="363420" cy="363418"/>
          </a:xfrm>
          <a:prstGeom prst="rect">
            <a:avLst/>
          </a:prstGeom>
        </p:spPr>
      </p:pic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59867425-5C2E-6DA4-BF49-9A19150989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5066" y="5235876"/>
            <a:ext cx="363419" cy="363419"/>
          </a:xfrm>
          <a:prstGeom prst="rect">
            <a:avLst/>
          </a:prstGeom>
        </p:spPr>
      </p:pic>
      <p:sp>
        <p:nvSpPr>
          <p:cNvPr id="9" name="Zástupný text 9">
            <a:extLst>
              <a:ext uri="{FF2B5EF4-FFF2-40B4-BE49-F238E27FC236}">
                <a16:creationId xmlns:a16="http://schemas.microsoft.com/office/drawing/2014/main" id="{D2C4FB82-A708-2912-24CA-39442AAD05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9188" y="5175606"/>
            <a:ext cx="1844212" cy="49371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Aptos SemiBold" panose="020B0004020202020204" pitchFamily="34" charset="0"/>
              </a:defRPr>
            </a:lvl1pPr>
          </a:lstStyle>
          <a:p>
            <a:pPr lvl="0"/>
            <a:r>
              <a:rPr lang="cs-CZ" dirty="0"/>
              <a:t>GitHub</a:t>
            </a:r>
          </a:p>
        </p:txBody>
      </p:sp>
      <p:sp>
        <p:nvSpPr>
          <p:cNvPr id="13" name="Zástupný symbol pro datum 1">
            <a:extLst>
              <a:ext uri="{FF2B5EF4-FFF2-40B4-BE49-F238E27FC236}">
                <a16:creationId xmlns:a16="http://schemas.microsoft.com/office/drawing/2014/main" id="{4CCABEB8-5B52-8766-B138-BF0F6FCBB6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14" name="Zástupný symbol pro zápatí 2">
            <a:extLst>
              <a:ext uri="{FF2B5EF4-FFF2-40B4-BE49-F238E27FC236}">
                <a16:creationId xmlns:a16="http://schemas.microsoft.com/office/drawing/2014/main" id="{1CFE454B-8562-9B8B-F82C-F6924FC1D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  <p:pic>
        <p:nvPicPr>
          <p:cNvPr id="16" name="Grafický objekt 15">
            <a:extLst>
              <a:ext uri="{FF2B5EF4-FFF2-40B4-BE49-F238E27FC236}">
                <a16:creationId xmlns:a16="http://schemas.microsoft.com/office/drawing/2014/main" id="{24A84561-19E1-C2EF-DECA-B69AEF3BEA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3262" y="5243216"/>
            <a:ext cx="363420" cy="363420"/>
          </a:xfrm>
          <a:prstGeom prst="rect">
            <a:avLst/>
          </a:prstGeom>
        </p:spPr>
      </p:pic>
      <p:pic>
        <p:nvPicPr>
          <p:cNvPr id="4" name="Obrázek 3">
            <a:extLst>
              <a:ext uri="{FF2B5EF4-FFF2-40B4-BE49-F238E27FC236}">
                <a16:creationId xmlns:a16="http://schemas.microsoft.com/office/drawing/2014/main" id="{23098BEF-77DC-81CF-71B3-C0A3CA60834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89" y="962449"/>
            <a:ext cx="3183741" cy="59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624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FEB36D-4393-8968-71BE-F316D35A5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1B492-6314-33A2-72EA-648B9B55A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C937D-972E-1B0E-1F8D-78211BC608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A19A2-235D-3F46-BCEA-C501D70C54EF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C5422-5CAE-96BC-E46F-5008E5D37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46116-5150-D1F6-9EF6-D7EC2CA07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41B97-29AB-C044-9D1C-DA6336F19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618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Nadpis 14">
            <a:extLst>
              <a:ext uri="{FF2B5EF4-FFF2-40B4-BE49-F238E27FC236}">
                <a16:creationId xmlns:a16="http://schemas.microsoft.com/office/drawing/2014/main" id="{E390D7A5-0B4D-9FA2-299F-55B8ED8D6D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Beyond </a:t>
            </a:r>
            <a:r>
              <a:rPr lang="en-GB" noProof="0" dirty="0" err="1"/>
              <a:t>Vibecoding</a:t>
            </a:r>
            <a:endParaRPr lang="en-GB" noProof="0"/>
          </a:p>
        </p:txBody>
      </p:sp>
      <p:sp>
        <p:nvSpPr>
          <p:cNvPr id="17" name="Zástupný text 16">
            <a:extLst>
              <a:ext uri="{FF2B5EF4-FFF2-40B4-BE49-F238E27FC236}">
                <a16:creationId xmlns:a16="http://schemas.microsoft.com/office/drawing/2014/main" id="{1C98B004-3A98-773F-6A8B-7B23E8E6E8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200" y="3187875"/>
            <a:ext cx="5429250" cy="838232"/>
          </a:xfrm>
        </p:spPr>
        <p:txBody>
          <a:bodyPr anchor="t"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en-GB" sz="4600" noProof="0" dirty="0"/>
              <a:t>Turning AI Coding into an Engineering Process</a:t>
            </a:r>
          </a:p>
          <a:p>
            <a:pPr>
              <a:lnSpc>
                <a:spcPct val="120000"/>
              </a:lnSpc>
            </a:pPr>
            <a:endParaRPr lang="en-GB" noProof="0" dirty="0"/>
          </a:p>
          <a:p>
            <a:pPr>
              <a:lnSpc>
                <a:spcPct val="120000"/>
              </a:lnSpc>
            </a:pPr>
            <a:endParaRPr lang="en-GB" noProof="0" dirty="0"/>
          </a:p>
        </p:txBody>
      </p:sp>
      <p:sp>
        <p:nvSpPr>
          <p:cNvPr id="19" name="Zástupný text 18">
            <a:extLst>
              <a:ext uri="{FF2B5EF4-FFF2-40B4-BE49-F238E27FC236}">
                <a16:creationId xmlns:a16="http://schemas.microsoft.com/office/drawing/2014/main" id="{531531D6-3522-A791-B991-335662165F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noProof="0"/>
              <a:t>Jan Ducháček	</a:t>
            </a:r>
          </a:p>
        </p:txBody>
      </p:sp>
      <p:sp>
        <p:nvSpPr>
          <p:cNvPr id="16" name="Zástupný text 15">
            <a:extLst>
              <a:ext uri="{FF2B5EF4-FFF2-40B4-BE49-F238E27FC236}">
                <a16:creationId xmlns:a16="http://schemas.microsoft.com/office/drawing/2014/main" id="{EAC5759F-4655-07F9-56AA-7867A39DB3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noProof="0" dirty="0"/>
              <a:t>Lead developer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E580110-97BA-C636-3395-A041490732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8733" y="5173100"/>
            <a:ext cx="922043" cy="48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714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2038-D655-FDD9-0907-30B88919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616E60-B0FF-1B98-EB0E-52AB60028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F1F1F"/>
                </a:solidFill>
                <a:latin typeface="Aptos SemiBold"/>
              </a:rPr>
              <a:t>What we’ll cover</a:t>
            </a:r>
            <a:endParaRPr lang="en-US" dirty="0"/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1BEE4CE6-8343-70FE-F7B6-5D6413D59107}"/>
              </a:ext>
            </a:extLst>
          </p:cNvPr>
          <p:cNvSpPr txBox="1"/>
          <p:nvPr/>
        </p:nvSpPr>
        <p:spPr>
          <a:xfrm>
            <a:off x="838200" y="6137275"/>
            <a:ext cx="1051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i="1" dirty="0">
                <a:solidFill>
                  <a:srgbClr val="FDAD00"/>
                </a:solidFill>
                <a:latin typeface="Aptos"/>
              </a:rPr>
              <a:t>Running example: add audit logs to a selected table</a:t>
            </a:r>
          </a:p>
        </p:txBody>
      </p:sp>
      <p:sp>
        <p:nvSpPr>
          <p:cNvPr id="3" name="Rect140">
            <a:extLst>
              <a:ext uri="{FF2B5EF4-FFF2-40B4-BE49-F238E27FC236}">
                <a16:creationId xmlns:a16="http://schemas.microsoft.com/office/drawing/2014/main" id="{34682722-AC29-E74B-1387-5F341738A315}"/>
              </a:ext>
            </a:extLst>
          </p:cNvPr>
          <p:cNvSpPr/>
          <p:nvPr/>
        </p:nvSpPr>
        <p:spPr>
          <a:xfrm>
            <a:off x="946000" y="2100000"/>
            <a:ext cx="3200000" cy="3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Rect141">
            <a:extLst>
              <a:ext uri="{FF2B5EF4-FFF2-40B4-BE49-F238E27FC236}">
                <a16:creationId xmlns:a16="http://schemas.microsoft.com/office/drawing/2014/main" id="{E421E65A-2D8F-1175-8BD5-1DA4876D7374}"/>
              </a:ext>
            </a:extLst>
          </p:cNvPr>
          <p:cNvSpPr/>
          <p:nvPr/>
        </p:nvSpPr>
        <p:spPr>
          <a:xfrm>
            <a:off x="946000" y="2100000"/>
            <a:ext cx="3200000" cy="182880"/>
          </a:xfrm>
          <a:prstGeom prst="rect">
            <a:avLst/>
          </a:prstGeom>
          <a:solidFill>
            <a:srgbClr val="FDAD00"/>
          </a:solidFill>
          <a:ln>
            <a:noFill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TxBox142">
            <a:extLst>
              <a:ext uri="{FF2B5EF4-FFF2-40B4-BE49-F238E27FC236}">
                <a16:creationId xmlns:a16="http://schemas.microsoft.com/office/drawing/2014/main" id="{FFF60C9D-B41F-B0A1-EC8E-CA5AA1A24B77}"/>
              </a:ext>
            </a:extLst>
          </p:cNvPr>
          <p:cNvSpPr txBox="1"/>
          <p:nvPr/>
        </p:nvSpPr>
        <p:spPr>
          <a:xfrm>
            <a:off x="946000" y="2350000"/>
            <a:ext cx="3200000" cy="2750000"/>
          </a:xfrm>
          <a:prstGeom prst="rect">
            <a:avLst/>
          </a:prstGeom>
          <a:noFill/>
        </p:spPr>
        <p:txBody>
          <a:bodyPr wrap="square" lIns="150000" tIns="200000" rIns="150000" bIns="200000" anchor="t"/>
          <a:lstStyle/>
          <a:p>
            <a:pPr algn="ctr">
              <a:buNone/>
            </a:pPr>
            <a:r>
              <a:rPr lang="en-US" sz="2400" b="1" spc="200" dirty="0">
                <a:solidFill>
                  <a:srgbClr val="FDAD00"/>
                </a:solidFill>
                <a:latin typeface="Aptos SemiBold"/>
              </a:rPr>
              <a:t>PART 1</a:t>
            </a:r>
          </a:p>
          <a:p>
            <a:pPr algn="ctr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1F1F1F"/>
                </a:solidFill>
                <a:latin typeface="Aptos SemiBold"/>
              </a:rPr>
              <a:t>The framing</a:t>
            </a:r>
          </a:p>
          <a:p>
            <a:pPr algn="ctr">
              <a:spcBef>
                <a:spcPts val="600"/>
              </a:spcBef>
              <a:buNone/>
            </a:pPr>
            <a:r>
              <a:rPr lang="en-US" sz="2400" dirty="0">
                <a:solidFill>
                  <a:srgbClr val="595959"/>
                </a:solidFill>
                <a:latin typeface="Aptos"/>
              </a:rPr>
              <a:t>AI made the cheap part cheaper</a:t>
            </a:r>
          </a:p>
        </p:txBody>
      </p:sp>
      <p:sp>
        <p:nvSpPr>
          <p:cNvPr id="8" name="Rect143">
            <a:extLst>
              <a:ext uri="{FF2B5EF4-FFF2-40B4-BE49-F238E27FC236}">
                <a16:creationId xmlns:a16="http://schemas.microsoft.com/office/drawing/2014/main" id="{9D1A44AB-05AE-C494-735D-28C99305D5B4}"/>
              </a:ext>
            </a:extLst>
          </p:cNvPr>
          <p:cNvSpPr/>
          <p:nvPr/>
        </p:nvSpPr>
        <p:spPr>
          <a:xfrm>
            <a:off x="4496000" y="2100000"/>
            <a:ext cx="3200000" cy="3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Rect144">
            <a:extLst>
              <a:ext uri="{FF2B5EF4-FFF2-40B4-BE49-F238E27FC236}">
                <a16:creationId xmlns:a16="http://schemas.microsoft.com/office/drawing/2014/main" id="{9290D90A-F9E8-6161-F8A4-E7D664B9475F}"/>
              </a:ext>
            </a:extLst>
          </p:cNvPr>
          <p:cNvSpPr/>
          <p:nvPr/>
        </p:nvSpPr>
        <p:spPr>
          <a:xfrm>
            <a:off x="4496000" y="2100000"/>
            <a:ext cx="3200000" cy="182880"/>
          </a:xfrm>
          <a:prstGeom prst="rect">
            <a:avLst/>
          </a:prstGeom>
          <a:solidFill>
            <a:srgbClr val="FDAD00"/>
          </a:solidFill>
          <a:ln>
            <a:noFill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10" name="TxBox145">
            <a:extLst>
              <a:ext uri="{FF2B5EF4-FFF2-40B4-BE49-F238E27FC236}">
                <a16:creationId xmlns:a16="http://schemas.microsoft.com/office/drawing/2014/main" id="{10A180A8-889F-FABC-2457-73653316A631}"/>
              </a:ext>
            </a:extLst>
          </p:cNvPr>
          <p:cNvSpPr txBox="1"/>
          <p:nvPr/>
        </p:nvSpPr>
        <p:spPr>
          <a:xfrm>
            <a:off x="4496000" y="2350000"/>
            <a:ext cx="3200000" cy="2750000"/>
          </a:xfrm>
          <a:prstGeom prst="rect">
            <a:avLst/>
          </a:prstGeom>
          <a:noFill/>
        </p:spPr>
        <p:txBody>
          <a:bodyPr wrap="square" lIns="150000" tIns="200000" rIns="150000" bIns="200000" anchor="t"/>
          <a:lstStyle/>
          <a:p>
            <a:pPr algn="ctr">
              <a:buNone/>
            </a:pPr>
            <a:r>
              <a:rPr lang="en-US" sz="2400" b="1" spc="200" dirty="0">
                <a:solidFill>
                  <a:srgbClr val="FDAD00"/>
                </a:solidFill>
                <a:latin typeface="Aptos SemiBold"/>
              </a:rPr>
              <a:t>PART 2</a:t>
            </a:r>
          </a:p>
          <a:p>
            <a:pPr algn="ctr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1F1F1F"/>
                </a:solidFill>
                <a:latin typeface="Aptos SemiBold"/>
              </a:rPr>
              <a:t>The workflow</a:t>
            </a:r>
          </a:p>
          <a:p>
            <a:pPr algn="ctr">
              <a:spcBef>
                <a:spcPts val="600"/>
              </a:spcBef>
              <a:buNone/>
            </a:pPr>
            <a:r>
              <a:rPr lang="en-US" sz="2400" dirty="0">
                <a:solidFill>
                  <a:srgbClr val="595959"/>
                </a:solidFill>
              </a:rPr>
              <a:t>One concrete example end-to-end</a:t>
            </a:r>
          </a:p>
        </p:txBody>
      </p:sp>
      <p:sp>
        <p:nvSpPr>
          <p:cNvPr id="11" name="Rect146">
            <a:extLst>
              <a:ext uri="{FF2B5EF4-FFF2-40B4-BE49-F238E27FC236}">
                <a16:creationId xmlns:a16="http://schemas.microsoft.com/office/drawing/2014/main" id="{A285A159-CECA-DB46-B344-B4227EA3D414}"/>
              </a:ext>
            </a:extLst>
          </p:cNvPr>
          <p:cNvSpPr/>
          <p:nvPr/>
        </p:nvSpPr>
        <p:spPr>
          <a:xfrm>
            <a:off x="8046000" y="2100000"/>
            <a:ext cx="3200000" cy="3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12" name="Rect147">
            <a:extLst>
              <a:ext uri="{FF2B5EF4-FFF2-40B4-BE49-F238E27FC236}">
                <a16:creationId xmlns:a16="http://schemas.microsoft.com/office/drawing/2014/main" id="{7A7045F0-4C0B-454E-0894-A640CFDACC24}"/>
              </a:ext>
            </a:extLst>
          </p:cNvPr>
          <p:cNvSpPr/>
          <p:nvPr/>
        </p:nvSpPr>
        <p:spPr>
          <a:xfrm>
            <a:off x="8046000" y="2100000"/>
            <a:ext cx="3200000" cy="182880"/>
          </a:xfrm>
          <a:prstGeom prst="rect">
            <a:avLst/>
          </a:prstGeom>
          <a:solidFill>
            <a:srgbClr val="FDAD00"/>
          </a:solidFill>
          <a:ln>
            <a:noFill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13" name="TxBox148">
            <a:extLst>
              <a:ext uri="{FF2B5EF4-FFF2-40B4-BE49-F238E27FC236}">
                <a16:creationId xmlns:a16="http://schemas.microsoft.com/office/drawing/2014/main" id="{0276AF01-F3B1-939C-F42E-9143B0FD7BD6}"/>
              </a:ext>
            </a:extLst>
          </p:cNvPr>
          <p:cNvSpPr txBox="1"/>
          <p:nvPr/>
        </p:nvSpPr>
        <p:spPr>
          <a:xfrm>
            <a:off x="8046000" y="2350000"/>
            <a:ext cx="3200000" cy="2750000"/>
          </a:xfrm>
          <a:prstGeom prst="rect">
            <a:avLst/>
          </a:prstGeom>
          <a:noFill/>
        </p:spPr>
        <p:txBody>
          <a:bodyPr wrap="square" lIns="150000" tIns="200000" rIns="150000" bIns="200000" anchor="t"/>
          <a:lstStyle/>
          <a:p>
            <a:pPr algn="ctr">
              <a:buNone/>
            </a:pPr>
            <a:r>
              <a:rPr lang="en-US" sz="2400" b="1" spc="200" dirty="0">
                <a:solidFill>
                  <a:srgbClr val="FDAD00"/>
                </a:solidFill>
                <a:latin typeface="Aptos SemiBold"/>
              </a:rPr>
              <a:t>PART 3</a:t>
            </a:r>
          </a:p>
          <a:p>
            <a:pPr algn="ctr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1F1F1F"/>
                </a:solidFill>
                <a:latin typeface="Aptos SemiBold"/>
              </a:rPr>
              <a:t>The principles</a:t>
            </a:r>
          </a:p>
          <a:p>
            <a:pPr algn="ctr">
              <a:spcBef>
                <a:spcPts val="600"/>
              </a:spcBef>
              <a:buNone/>
            </a:pPr>
            <a:r>
              <a:rPr lang="en-US" sz="2400" dirty="0">
                <a:solidFill>
                  <a:srgbClr val="595959"/>
                </a:solidFill>
              </a:rPr>
              <a:t>What makes the workflow </a:t>
            </a:r>
            <a:br>
              <a:rPr lang="en-US" sz="2400" dirty="0">
                <a:solidFill>
                  <a:srgbClr val="595959"/>
                </a:solidFill>
              </a:rPr>
            </a:br>
            <a:r>
              <a:rPr lang="en-US" sz="2400" dirty="0">
                <a:solidFill>
                  <a:srgbClr val="595959"/>
                </a:solidFill>
              </a:rPr>
              <a:t>actually work</a:t>
            </a:r>
          </a:p>
        </p:txBody>
      </p:sp>
    </p:spTree>
    <p:extLst>
      <p:ext uri="{BB962C8B-B14F-4D97-AF65-F5344CB8AC3E}">
        <p14:creationId xmlns:p14="http://schemas.microsoft.com/office/powerpoint/2010/main" val="3313165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2038-D655-FDD9-0907-30B88919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616E60-B0FF-1B98-EB0E-52AB60028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Vibecoding Trap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8D41200-3CB4-DEC2-EE58-31EFB5BD388B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838200" y="1912938"/>
            <a:ext cx="5257800" cy="3921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>
                <a:solidFill>
                  <a:srgbClr val="FFC000"/>
                </a:solidFill>
              </a:rPr>
              <a:t>THE DEMO</a:t>
            </a:r>
          </a:p>
          <a:p>
            <a:pPr>
              <a:buNone/>
            </a:pPr>
            <a:r>
              <a:rPr lang="en-US" dirty="0">
                <a:solidFill>
                  <a:srgbClr val="1F1F1F"/>
                </a:solidFill>
              </a:rPr>
              <a:t>• Prompt → working code</a:t>
            </a:r>
          </a:p>
          <a:p>
            <a:pPr>
              <a:spcBef>
                <a:spcPts val="400"/>
              </a:spcBef>
              <a:buNone/>
            </a:pPr>
            <a:r>
              <a:rPr lang="en-US" dirty="0">
                <a:solidFill>
                  <a:srgbClr val="1F1F1F"/>
                </a:solidFill>
              </a:rPr>
              <a:t>• One developer, one feature</a:t>
            </a:r>
          </a:p>
          <a:p>
            <a:pPr>
              <a:spcBef>
                <a:spcPts val="400"/>
              </a:spcBef>
              <a:buNone/>
            </a:pPr>
            <a:r>
              <a:rPr lang="en-US" dirty="0">
                <a:solidFill>
                  <a:srgbClr val="1F1F1F"/>
                </a:solidFill>
              </a:rPr>
              <a:t>• Greenfield, no constraints</a:t>
            </a:r>
          </a:p>
          <a:p>
            <a:pPr>
              <a:spcBef>
                <a:spcPts val="400"/>
              </a:spcBef>
              <a:buNone/>
            </a:pPr>
            <a:r>
              <a:rPr lang="en-US" dirty="0">
                <a:solidFill>
                  <a:srgbClr val="1F1F1F"/>
                </a:solidFill>
              </a:rPr>
              <a:t>• Applause</a:t>
            </a:r>
          </a:p>
        </p:txBody>
      </p:sp>
      <p:sp>
        <p:nvSpPr>
          <p:cNvPr id="5" name="Zástupný obsah 5">
            <a:extLst>
              <a:ext uri="{FF2B5EF4-FFF2-40B4-BE49-F238E27FC236}">
                <a16:creationId xmlns:a16="http://schemas.microsoft.com/office/drawing/2014/main" id="{0300FF70-AA18-C100-8779-3A1D462D4AD3}"/>
              </a:ext>
            </a:extLst>
          </p:cNvPr>
          <p:cNvSpPr txBox="1">
            <a:spLocks/>
          </p:cNvSpPr>
          <p:nvPr/>
        </p:nvSpPr>
        <p:spPr>
          <a:xfrm>
            <a:off x="6096000" y="1912938"/>
            <a:ext cx="5257800" cy="3921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dirty="0">
                <a:solidFill>
                  <a:srgbClr val="FFC000"/>
                </a:solidFill>
              </a:rPr>
              <a:t>DAY 30, TEAM OF 10</a:t>
            </a:r>
          </a:p>
          <a:p>
            <a:pPr>
              <a:buNone/>
            </a:pPr>
            <a:r>
              <a:rPr lang="en-US" dirty="0">
                <a:solidFill>
                  <a:srgbClr val="1F1F1F"/>
                </a:solidFill>
              </a:rPr>
              <a:t>• Whose architecture is this?</a:t>
            </a:r>
          </a:p>
          <a:p>
            <a:pPr>
              <a:spcBef>
                <a:spcPts val="400"/>
              </a:spcBef>
              <a:buNone/>
            </a:pPr>
            <a:r>
              <a:rPr lang="en-US" dirty="0">
                <a:solidFill>
                  <a:srgbClr val="1F1F1F"/>
                </a:solidFill>
              </a:rPr>
              <a:t>• Why are tests passing but features broken?</a:t>
            </a:r>
          </a:p>
          <a:p>
            <a:pPr>
              <a:spcBef>
                <a:spcPts val="400"/>
              </a:spcBef>
              <a:buNone/>
            </a:pPr>
            <a:r>
              <a:rPr lang="en-US" dirty="0">
                <a:solidFill>
                  <a:srgbClr val="1F1F1F"/>
                </a:solidFill>
              </a:rPr>
              <a:t>• Nobody can review a 2,000-line PR</a:t>
            </a:r>
          </a:p>
          <a:p>
            <a:pPr>
              <a:spcBef>
                <a:spcPts val="400"/>
              </a:spcBef>
              <a:buNone/>
            </a:pPr>
            <a:r>
              <a:rPr lang="en-US" dirty="0">
                <a:solidFill>
                  <a:srgbClr val="1F1F1F"/>
                </a:solidFill>
              </a:rPr>
              <a:t>• Documentation is fiction</a:t>
            </a:r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5938A0B3-D384-614F-CFF8-BEA0FCA74A64}"/>
              </a:ext>
            </a:extLst>
          </p:cNvPr>
          <p:cNvSpPr txBox="1"/>
          <p:nvPr/>
        </p:nvSpPr>
        <p:spPr>
          <a:xfrm>
            <a:off x="838200" y="6137275"/>
            <a:ext cx="1051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i="1" dirty="0">
                <a:solidFill>
                  <a:srgbClr val="FDAD00"/>
                </a:solidFill>
                <a:latin typeface="Aptos"/>
              </a:rPr>
              <a:t>The shift: from “can AI write this?” to “can AI deliver this maintainably?”</a:t>
            </a:r>
          </a:p>
        </p:txBody>
      </p:sp>
    </p:spTree>
    <p:extLst>
      <p:ext uri="{BB962C8B-B14F-4D97-AF65-F5344CB8AC3E}">
        <p14:creationId xmlns:p14="http://schemas.microsoft.com/office/powerpoint/2010/main" val="25119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2038-D655-FDD9-0907-30B88919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616E60-B0FF-1B98-EB0E-52AB60028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F1F1F"/>
                </a:solidFill>
                <a:latin typeface="Aptos SemiBold"/>
              </a:rPr>
              <a:t>AI 10x’d the cheap part</a:t>
            </a:r>
            <a:endParaRPr lang="en-US" dirty="0"/>
          </a:p>
        </p:txBody>
      </p:sp>
      <p:sp>
        <p:nvSpPr>
          <p:cNvPr id="2" name="Zástupný obsah 5">
            <a:extLst>
              <a:ext uri="{FF2B5EF4-FFF2-40B4-BE49-F238E27FC236}">
                <a16:creationId xmlns:a16="http://schemas.microsoft.com/office/drawing/2014/main" id="{EB651D12-E704-227C-BEE1-14ED9F8F4AA3}"/>
              </a:ext>
            </a:extLst>
          </p:cNvPr>
          <p:cNvSpPr txBox="1">
            <a:spLocks/>
          </p:cNvSpPr>
          <p:nvPr/>
        </p:nvSpPr>
        <p:spPr>
          <a:xfrm>
            <a:off x="838200" y="1204332"/>
            <a:ext cx="10515600" cy="1109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Where time really went in software delivery (pre-ai)</a:t>
            </a:r>
          </a:p>
        </p:txBody>
      </p:sp>
      <p:sp>
        <p:nvSpPr>
          <p:cNvPr id="3" name="TxBox130">
            <a:extLst>
              <a:ext uri="{FF2B5EF4-FFF2-40B4-BE49-F238E27FC236}">
                <a16:creationId xmlns:a16="http://schemas.microsoft.com/office/drawing/2014/main" id="{51C81471-218A-D218-9AC3-94CDA2CBCA31}"/>
              </a:ext>
            </a:extLst>
          </p:cNvPr>
          <p:cNvSpPr txBox="1"/>
          <p:nvPr/>
        </p:nvSpPr>
        <p:spPr>
          <a:xfrm>
            <a:off x="928512" y="2408749"/>
            <a:ext cx="3000000" cy="350000"/>
          </a:xfrm>
          <a:prstGeom prst="rect">
            <a:avLst/>
          </a:prstGeom>
          <a:noFill/>
        </p:spPr>
        <p:txBody>
          <a:bodyPr wrap="square" lIns="0" tIns="40000" rIns="0" bIns="0" anchor="ctr"/>
          <a:lstStyle/>
          <a:p>
            <a:pPr algn="l">
              <a:buNone/>
            </a:pPr>
            <a:r>
              <a:rPr lang="en-US" sz="2800" dirty="0">
                <a:solidFill>
                  <a:srgbClr val="1F1F1F"/>
                </a:solidFill>
              </a:rPr>
              <a:t>Writing code</a:t>
            </a:r>
          </a:p>
        </p:txBody>
      </p:sp>
      <p:sp>
        <p:nvSpPr>
          <p:cNvPr id="4" name="Rect131">
            <a:extLst>
              <a:ext uri="{FF2B5EF4-FFF2-40B4-BE49-F238E27FC236}">
                <a16:creationId xmlns:a16="http://schemas.microsoft.com/office/drawing/2014/main" id="{B6930D41-0F62-FA1B-D9B9-B6E22FAFBC98}"/>
              </a:ext>
            </a:extLst>
          </p:cNvPr>
          <p:cNvSpPr/>
          <p:nvPr/>
        </p:nvSpPr>
        <p:spPr>
          <a:xfrm>
            <a:off x="5031559" y="2400000"/>
            <a:ext cx="5486400" cy="3749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anchor="ctr"/>
          <a:lstStyle/>
          <a:p>
            <a:endParaRPr lang="en-US" sz="2800" dirty="0"/>
          </a:p>
        </p:txBody>
      </p:sp>
      <p:sp>
        <p:nvSpPr>
          <p:cNvPr id="5" name="Rect132">
            <a:extLst>
              <a:ext uri="{FF2B5EF4-FFF2-40B4-BE49-F238E27FC236}">
                <a16:creationId xmlns:a16="http://schemas.microsoft.com/office/drawing/2014/main" id="{97F69DED-8A50-EAFD-5EEA-A332231CB205}"/>
              </a:ext>
            </a:extLst>
          </p:cNvPr>
          <p:cNvSpPr/>
          <p:nvPr/>
        </p:nvSpPr>
        <p:spPr>
          <a:xfrm>
            <a:off x="5031559" y="2395200"/>
            <a:ext cx="4572000" cy="374904"/>
          </a:xfrm>
          <a:prstGeom prst="rect">
            <a:avLst/>
          </a:prstGeom>
          <a:solidFill>
            <a:srgbClr val="FDAD00"/>
          </a:solidFill>
          <a:ln>
            <a:noFill/>
          </a:ln>
        </p:spPr>
        <p:txBody>
          <a:bodyPr wrap="square" anchor="ctr"/>
          <a:lstStyle/>
          <a:p>
            <a:endParaRPr lang="en-US" sz="2800" dirty="0"/>
          </a:p>
        </p:txBody>
      </p:sp>
      <p:sp>
        <p:nvSpPr>
          <p:cNvPr id="8" name="TxBox133">
            <a:extLst>
              <a:ext uri="{FF2B5EF4-FFF2-40B4-BE49-F238E27FC236}">
                <a16:creationId xmlns:a16="http://schemas.microsoft.com/office/drawing/2014/main" id="{AD346471-EC6E-BD44-D6D5-89A98BBD5F68}"/>
              </a:ext>
            </a:extLst>
          </p:cNvPr>
          <p:cNvSpPr txBox="1"/>
          <p:nvPr/>
        </p:nvSpPr>
        <p:spPr>
          <a:xfrm>
            <a:off x="9787198" y="2393179"/>
            <a:ext cx="731520" cy="374904"/>
          </a:xfrm>
          <a:prstGeom prst="rect">
            <a:avLst/>
          </a:prstGeom>
          <a:noFill/>
        </p:spPr>
        <p:txBody>
          <a:bodyPr wrap="square" lIns="0" tIns="40000" rIns="0" bIns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1F1F"/>
                </a:solidFill>
              </a:rPr>
              <a:t>25%</a:t>
            </a:r>
          </a:p>
        </p:txBody>
      </p:sp>
      <p:sp>
        <p:nvSpPr>
          <p:cNvPr id="9" name="TxBox134">
            <a:extLst>
              <a:ext uri="{FF2B5EF4-FFF2-40B4-BE49-F238E27FC236}">
                <a16:creationId xmlns:a16="http://schemas.microsoft.com/office/drawing/2014/main" id="{00237603-3360-3A7B-22BD-5E9088AD3273}"/>
              </a:ext>
            </a:extLst>
          </p:cNvPr>
          <p:cNvSpPr txBox="1"/>
          <p:nvPr/>
        </p:nvSpPr>
        <p:spPr>
          <a:xfrm>
            <a:off x="928512" y="2944583"/>
            <a:ext cx="3654779" cy="350000"/>
          </a:xfrm>
          <a:prstGeom prst="rect">
            <a:avLst/>
          </a:prstGeom>
          <a:noFill/>
        </p:spPr>
        <p:txBody>
          <a:bodyPr wrap="square" lIns="0" tIns="40000" rIns="0" bIns="0" anchor="ctr"/>
          <a:lstStyle/>
          <a:p>
            <a:pPr algn="l">
              <a:buNone/>
            </a:pPr>
            <a:r>
              <a:rPr lang="en-US" sz="2800" dirty="0">
                <a:solidFill>
                  <a:srgbClr val="1F1F1F"/>
                </a:solidFill>
              </a:rPr>
              <a:t>Reviewing &amp; integrating</a:t>
            </a:r>
          </a:p>
        </p:txBody>
      </p:sp>
      <p:sp>
        <p:nvSpPr>
          <p:cNvPr id="10" name="Rect135">
            <a:extLst>
              <a:ext uri="{FF2B5EF4-FFF2-40B4-BE49-F238E27FC236}">
                <a16:creationId xmlns:a16="http://schemas.microsoft.com/office/drawing/2014/main" id="{FD7570E8-38F6-AD15-59E0-2651CD7667A5}"/>
              </a:ext>
            </a:extLst>
          </p:cNvPr>
          <p:cNvSpPr/>
          <p:nvPr/>
        </p:nvSpPr>
        <p:spPr>
          <a:xfrm>
            <a:off x="5031559" y="2945325"/>
            <a:ext cx="5486400" cy="3749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anchor="ctr"/>
          <a:lstStyle/>
          <a:p>
            <a:endParaRPr lang="en-US" sz="2800" dirty="0"/>
          </a:p>
        </p:txBody>
      </p:sp>
      <p:sp>
        <p:nvSpPr>
          <p:cNvPr id="11" name="Rect136">
            <a:extLst>
              <a:ext uri="{FF2B5EF4-FFF2-40B4-BE49-F238E27FC236}">
                <a16:creationId xmlns:a16="http://schemas.microsoft.com/office/drawing/2014/main" id="{00221BD8-49B4-F10D-B2A9-F3384BC9767D}"/>
              </a:ext>
            </a:extLst>
          </p:cNvPr>
          <p:cNvSpPr/>
          <p:nvPr/>
        </p:nvSpPr>
        <p:spPr>
          <a:xfrm>
            <a:off x="5028225" y="2961463"/>
            <a:ext cx="4572000" cy="3749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wrap="square" anchor="ctr"/>
          <a:lstStyle/>
          <a:p>
            <a:endParaRPr lang="en-US" sz="2800" dirty="0"/>
          </a:p>
        </p:txBody>
      </p:sp>
      <p:sp>
        <p:nvSpPr>
          <p:cNvPr id="12" name="TxBox137">
            <a:extLst>
              <a:ext uri="{FF2B5EF4-FFF2-40B4-BE49-F238E27FC236}">
                <a16:creationId xmlns:a16="http://schemas.microsoft.com/office/drawing/2014/main" id="{D90C63DB-C752-1BFE-430B-CFEF1B5B27A7}"/>
              </a:ext>
            </a:extLst>
          </p:cNvPr>
          <p:cNvSpPr txBox="1"/>
          <p:nvPr/>
        </p:nvSpPr>
        <p:spPr>
          <a:xfrm>
            <a:off x="9784562" y="2944583"/>
            <a:ext cx="731520" cy="374904"/>
          </a:xfrm>
          <a:prstGeom prst="rect">
            <a:avLst/>
          </a:prstGeom>
          <a:noFill/>
        </p:spPr>
        <p:txBody>
          <a:bodyPr wrap="square" lIns="0" tIns="40000" rIns="0" bIns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1F1F"/>
                </a:solidFill>
              </a:rPr>
              <a:t>25%</a:t>
            </a:r>
          </a:p>
        </p:txBody>
      </p:sp>
      <p:sp>
        <p:nvSpPr>
          <p:cNvPr id="13" name="TxBox138">
            <a:extLst>
              <a:ext uri="{FF2B5EF4-FFF2-40B4-BE49-F238E27FC236}">
                <a16:creationId xmlns:a16="http://schemas.microsoft.com/office/drawing/2014/main" id="{2D03B9AA-1F42-A56A-0875-C1AB9B17CFBD}"/>
              </a:ext>
            </a:extLst>
          </p:cNvPr>
          <p:cNvSpPr txBox="1"/>
          <p:nvPr/>
        </p:nvSpPr>
        <p:spPr>
          <a:xfrm>
            <a:off x="928512" y="3500000"/>
            <a:ext cx="3824112" cy="350000"/>
          </a:xfrm>
          <a:prstGeom prst="rect">
            <a:avLst/>
          </a:prstGeom>
          <a:noFill/>
        </p:spPr>
        <p:txBody>
          <a:bodyPr wrap="square" lIns="0" tIns="40000" rIns="0" bIns="0" anchor="ctr"/>
          <a:lstStyle/>
          <a:p>
            <a:pPr algn="l">
              <a:buNone/>
            </a:pPr>
            <a:r>
              <a:rPr lang="en-US" sz="2800" dirty="0">
                <a:solidFill>
                  <a:srgbClr val="1F1F1F"/>
                </a:solidFill>
              </a:rPr>
              <a:t>Architecture &amp; decisions</a:t>
            </a:r>
          </a:p>
        </p:txBody>
      </p:sp>
      <p:sp>
        <p:nvSpPr>
          <p:cNvPr id="14" name="Rect139">
            <a:extLst>
              <a:ext uri="{FF2B5EF4-FFF2-40B4-BE49-F238E27FC236}">
                <a16:creationId xmlns:a16="http://schemas.microsoft.com/office/drawing/2014/main" id="{EC78DFD5-C612-1C17-9C23-799002A69A8D}"/>
              </a:ext>
            </a:extLst>
          </p:cNvPr>
          <p:cNvSpPr/>
          <p:nvPr/>
        </p:nvSpPr>
        <p:spPr>
          <a:xfrm>
            <a:off x="5031558" y="3500000"/>
            <a:ext cx="5486400" cy="3749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anchor="ctr"/>
          <a:lstStyle/>
          <a:p>
            <a:endParaRPr lang="en-US" sz="2800" dirty="0"/>
          </a:p>
        </p:txBody>
      </p:sp>
      <p:sp>
        <p:nvSpPr>
          <p:cNvPr id="15" name="Rect140">
            <a:extLst>
              <a:ext uri="{FF2B5EF4-FFF2-40B4-BE49-F238E27FC236}">
                <a16:creationId xmlns:a16="http://schemas.microsoft.com/office/drawing/2014/main" id="{CC0D7779-071A-DECF-33E9-15974FD568F8}"/>
              </a:ext>
            </a:extLst>
          </p:cNvPr>
          <p:cNvSpPr/>
          <p:nvPr/>
        </p:nvSpPr>
        <p:spPr>
          <a:xfrm>
            <a:off x="5034893" y="3497853"/>
            <a:ext cx="2743200" cy="3749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wrap="square" anchor="ctr"/>
          <a:lstStyle/>
          <a:p>
            <a:endParaRPr lang="en-US" sz="2800" dirty="0"/>
          </a:p>
        </p:txBody>
      </p:sp>
      <p:sp>
        <p:nvSpPr>
          <p:cNvPr id="16" name="TxBox141">
            <a:extLst>
              <a:ext uri="{FF2B5EF4-FFF2-40B4-BE49-F238E27FC236}">
                <a16:creationId xmlns:a16="http://schemas.microsoft.com/office/drawing/2014/main" id="{7936BF76-9A78-5C41-F939-212FCFA28319}"/>
              </a:ext>
            </a:extLst>
          </p:cNvPr>
          <p:cNvSpPr txBox="1"/>
          <p:nvPr/>
        </p:nvSpPr>
        <p:spPr>
          <a:xfrm>
            <a:off x="9784562" y="3504093"/>
            <a:ext cx="731520" cy="374904"/>
          </a:xfrm>
          <a:prstGeom prst="rect">
            <a:avLst/>
          </a:prstGeom>
          <a:noFill/>
        </p:spPr>
        <p:txBody>
          <a:bodyPr wrap="square" lIns="0" tIns="40000" rIns="0" bIns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1F1F"/>
                </a:solidFill>
              </a:rPr>
              <a:t>15%</a:t>
            </a:r>
          </a:p>
        </p:txBody>
      </p:sp>
      <p:sp>
        <p:nvSpPr>
          <p:cNvPr id="17" name="TxBox142">
            <a:extLst>
              <a:ext uri="{FF2B5EF4-FFF2-40B4-BE49-F238E27FC236}">
                <a16:creationId xmlns:a16="http://schemas.microsoft.com/office/drawing/2014/main" id="{CB0B5276-E7D7-D289-018B-E34B2A54BFE8}"/>
              </a:ext>
            </a:extLst>
          </p:cNvPr>
          <p:cNvSpPr txBox="1"/>
          <p:nvPr/>
        </p:nvSpPr>
        <p:spPr>
          <a:xfrm>
            <a:off x="928512" y="4060040"/>
            <a:ext cx="3654778" cy="350000"/>
          </a:xfrm>
          <a:prstGeom prst="rect">
            <a:avLst/>
          </a:prstGeom>
          <a:noFill/>
        </p:spPr>
        <p:txBody>
          <a:bodyPr wrap="square" lIns="0" tIns="40000" rIns="0" bIns="0" anchor="ctr"/>
          <a:lstStyle/>
          <a:p>
            <a:pPr algn="l">
              <a:buNone/>
            </a:pPr>
            <a:r>
              <a:rPr lang="en-US" sz="2800" dirty="0">
                <a:solidFill>
                  <a:srgbClr val="1F1F1F"/>
                </a:solidFill>
              </a:rPr>
              <a:t>Verifying &amp; debugging</a:t>
            </a:r>
          </a:p>
        </p:txBody>
      </p:sp>
      <p:sp>
        <p:nvSpPr>
          <p:cNvPr id="18" name="Rect143">
            <a:extLst>
              <a:ext uri="{FF2B5EF4-FFF2-40B4-BE49-F238E27FC236}">
                <a16:creationId xmlns:a16="http://schemas.microsoft.com/office/drawing/2014/main" id="{CBAA6010-BFD7-4E4F-CF4A-3F099F0FF329}"/>
              </a:ext>
            </a:extLst>
          </p:cNvPr>
          <p:cNvSpPr/>
          <p:nvPr/>
        </p:nvSpPr>
        <p:spPr>
          <a:xfrm>
            <a:off x="5031558" y="4100000"/>
            <a:ext cx="5486400" cy="3749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anchor="ctr"/>
          <a:lstStyle/>
          <a:p>
            <a:endParaRPr lang="en-US" sz="2800" dirty="0"/>
          </a:p>
        </p:txBody>
      </p:sp>
      <p:sp>
        <p:nvSpPr>
          <p:cNvPr id="19" name="Rect144">
            <a:extLst>
              <a:ext uri="{FF2B5EF4-FFF2-40B4-BE49-F238E27FC236}">
                <a16:creationId xmlns:a16="http://schemas.microsoft.com/office/drawing/2014/main" id="{696D1984-B578-5C4F-AE54-4A6F08F3349F}"/>
              </a:ext>
            </a:extLst>
          </p:cNvPr>
          <p:cNvSpPr/>
          <p:nvPr/>
        </p:nvSpPr>
        <p:spPr>
          <a:xfrm>
            <a:off x="5034893" y="4100000"/>
            <a:ext cx="4572000" cy="3749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wrap="square" anchor="ctr"/>
          <a:lstStyle/>
          <a:p>
            <a:endParaRPr lang="en-US" sz="2800" dirty="0"/>
          </a:p>
        </p:txBody>
      </p:sp>
      <p:sp>
        <p:nvSpPr>
          <p:cNvPr id="20" name="TxBox145">
            <a:extLst>
              <a:ext uri="{FF2B5EF4-FFF2-40B4-BE49-F238E27FC236}">
                <a16:creationId xmlns:a16="http://schemas.microsoft.com/office/drawing/2014/main" id="{96997246-83F8-67C6-4866-3F772C2C0BE0}"/>
              </a:ext>
            </a:extLst>
          </p:cNvPr>
          <p:cNvSpPr txBox="1"/>
          <p:nvPr/>
        </p:nvSpPr>
        <p:spPr>
          <a:xfrm>
            <a:off x="9784562" y="4099258"/>
            <a:ext cx="731520" cy="374904"/>
          </a:xfrm>
          <a:prstGeom prst="rect">
            <a:avLst/>
          </a:prstGeom>
          <a:noFill/>
        </p:spPr>
        <p:txBody>
          <a:bodyPr wrap="square" lIns="0" tIns="40000" rIns="0" bIns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1F1F"/>
                </a:solidFill>
              </a:rPr>
              <a:t>25%</a:t>
            </a:r>
          </a:p>
        </p:txBody>
      </p:sp>
      <p:sp>
        <p:nvSpPr>
          <p:cNvPr id="21" name="TxBox146">
            <a:extLst>
              <a:ext uri="{FF2B5EF4-FFF2-40B4-BE49-F238E27FC236}">
                <a16:creationId xmlns:a16="http://schemas.microsoft.com/office/drawing/2014/main" id="{54460E2F-FDD3-F560-4037-78553E543A41}"/>
              </a:ext>
            </a:extLst>
          </p:cNvPr>
          <p:cNvSpPr txBox="1"/>
          <p:nvPr/>
        </p:nvSpPr>
        <p:spPr>
          <a:xfrm>
            <a:off x="928511" y="4620080"/>
            <a:ext cx="3654777" cy="350000"/>
          </a:xfrm>
          <a:prstGeom prst="rect">
            <a:avLst/>
          </a:prstGeom>
          <a:noFill/>
        </p:spPr>
        <p:txBody>
          <a:bodyPr wrap="square" lIns="0" tIns="40000" rIns="0" bIns="0" anchor="ctr"/>
          <a:lstStyle/>
          <a:p>
            <a:pPr algn="l">
              <a:buNone/>
            </a:pPr>
            <a:r>
              <a:rPr lang="en-US" sz="2800" dirty="0">
                <a:solidFill>
                  <a:srgbClr val="1F1F1F"/>
                </a:solidFill>
              </a:rPr>
              <a:t>Coordination &amp; rework</a:t>
            </a:r>
          </a:p>
        </p:txBody>
      </p:sp>
      <p:sp>
        <p:nvSpPr>
          <p:cNvPr id="22" name="Rect147">
            <a:extLst>
              <a:ext uri="{FF2B5EF4-FFF2-40B4-BE49-F238E27FC236}">
                <a16:creationId xmlns:a16="http://schemas.microsoft.com/office/drawing/2014/main" id="{3B6DC86A-69E7-3F1A-98FA-1C51755E9EA2}"/>
              </a:ext>
            </a:extLst>
          </p:cNvPr>
          <p:cNvSpPr/>
          <p:nvPr/>
        </p:nvSpPr>
        <p:spPr>
          <a:xfrm>
            <a:off x="5031558" y="4650000"/>
            <a:ext cx="5486400" cy="3749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anchor="ctr"/>
          <a:lstStyle/>
          <a:p>
            <a:endParaRPr lang="en-US" sz="2800" dirty="0"/>
          </a:p>
        </p:txBody>
      </p:sp>
      <p:sp>
        <p:nvSpPr>
          <p:cNvPr id="23" name="Rect148">
            <a:extLst>
              <a:ext uri="{FF2B5EF4-FFF2-40B4-BE49-F238E27FC236}">
                <a16:creationId xmlns:a16="http://schemas.microsoft.com/office/drawing/2014/main" id="{15D36E60-5DD5-46C9-A80B-A80721E8B0E4}"/>
              </a:ext>
            </a:extLst>
          </p:cNvPr>
          <p:cNvSpPr/>
          <p:nvPr/>
        </p:nvSpPr>
        <p:spPr>
          <a:xfrm>
            <a:off x="5034893" y="4647739"/>
            <a:ext cx="1828800" cy="3749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wrap="square" anchor="ctr"/>
          <a:lstStyle/>
          <a:p>
            <a:endParaRPr lang="en-US" sz="2800" dirty="0"/>
          </a:p>
        </p:txBody>
      </p:sp>
      <p:sp>
        <p:nvSpPr>
          <p:cNvPr id="24" name="TxBox149">
            <a:extLst>
              <a:ext uri="{FF2B5EF4-FFF2-40B4-BE49-F238E27FC236}">
                <a16:creationId xmlns:a16="http://schemas.microsoft.com/office/drawing/2014/main" id="{BF52B4B1-0C38-F410-52CD-D76F0A607538}"/>
              </a:ext>
            </a:extLst>
          </p:cNvPr>
          <p:cNvSpPr txBox="1"/>
          <p:nvPr/>
        </p:nvSpPr>
        <p:spPr>
          <a:xfrm>
            <a:off x="9784562" y="4647739"/>
            <a:ext cx="731520" cy="374904"/>
          </a:xfrm>
          <a:prstGeom prst="rect">
            <a:avLst/>
          </a:prstGeom>
          <a:noFill/>
        </p:spPr>
        <p:txBody>
          <a:bodyPr wrap="square" lIns="0" tIns="40000" rIns="0" bIns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1F1F"/>
                </a:solidFill>
              </a:rPr>
              <a:t>10%</a:t>
            </a:r>
          </a:p>
        </p:txBody>
      </p:sp>
      <p:sp>
        <p:nvSpPr>
          <p:cNvPr id="25" name="Footer">
            <a:extLst>
              <a:ext uri="{FF2B5EF4-FFF2-40B4-BE49-F238E27FC236}">
                <a16:creationId xmlns:a16="http://schemas.microsoft.com/office/drawing/2014/main" id="{1317D71F-F3FD-45AC-DBD7-0C63CAC76915}"/>
              </a:ext>
            </a:extLst>
          </p:cNvPr>
          <p:cNvSpPr txBox="1">
            <a:spLocks/>
          </p:cNvSpPr>
          <p:nvPr/>
        </p:nvSpPr>
        <p:spPr>
          <a:xfrm>
            <a:off x="838200" y="6137275"/>
            <a:ext cx="1051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i="1" dirty="0">
                <a:solidFill>
                  <a:srgbClr val="FDAD00"/>
                </a:solidFill>
                <a:latin typeface="Aptos"/>
              </a:rPr>
              <a:t>Writing code was never the bottleneck. AI made the cheap part cheaper and left the expensive parts untouched.</a:t>
            </a:r>
          </a:p>
        </p:txBody>
      </p:sp>
    </p:spTree>
    <p:extLst>
      <p:ext uri="{BB962C8B-B14F-4D97-AF65-F5344CB8AC3E}">
        <p14:creationId xmlns:p14="http://schemas.microsoft.com/office/powerpoint/2010/main" val="633446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15BED-6C50-1719-3968-072DBF638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Label">
            <a:extLst>
              <a:ext uri="{FF2B5EF4-FFF2-40B4-BE49-F238E27FC236}">
                <a16:creationId xmlns:a16="http://schemas.microsoft.com/office/drawing/2014/main" id="{758A202E-CCBC-8086-FB06-2C2BDF3E9491}"/>
              </a:ext>
            </a:extLst>
          </p:cNvPr>
          <p:cNvSpPr txBox="1"/>
          <p:nvPr/>
        </p:nvSpPr>
        <p:spPr>
          <a:xfrm>
            <a:off x="838200" y="2400000"/>
            <a:ext cx="105156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1" spc="400" dirty="0">
                <a:solidFill>
                  <a:srgbClr val="FFC000"/>
                </a:solidFill>
                <a:latin typeface="Aptos SemiBold"/>
              </a:rPr>
              <a:t>PART 2</a:t>
            </a:r>
          </a:p>
        </p:txBody>
      </p:sp>
      <p:sp>
        <p:nvSpPr>
          <p:cNvPr id="5" name="MainTitle">
            <a:extLst>
              <a:ext uri="{FF2B5EF4-FFF2-40B4-BE49-F238E27FC236}">
                <a16:creationId xmlns:a16="http://schemas.microsoft.com/office/drawing/2014/main" id="{C16F57C8-1D69-1A95-2095-3A209A2BED8B}"/>
              </a:ext>
            </a:extLst>
          </p:cNvPr>
          <p:cNvSpPr txBox="1"/>
          <p:nvPr/>
        </p:nvSpPr>
        <p:spPr>
          <a:xfrm>
            <a:off x="838200" y="2900000"/>
            <a:ext cx="10515600" cy="1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7200" b="1" dirty="0">
                <a:solidFill>
                  <a:schemeClr val="bg1"/>
                </a:solidFill>
                <a:latin typeface="Aptos SemiBold"/>
              </a:rPr>
              <a:t>The Workflow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B966DEE3-20D0-175A-D58E-4FE5E21AA510}"/>
              </a:ext>
            </a:extLst>
          </p:cNvPr>
          <p:cNvSpPr txBox="1"/>
          <p:nvPr/>
        </p:nvSpPr>
        <p:spPr>
          <a:xfrm>
            <a:off x="838200" y="4250000"/>
            <a:ext cx="1051560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800" i="1" dirty="0">
                <a:solidFill>
                  <a:schemeClr val="bg2">
                    <a:lumMod val="90000"/>
                  </a:schemeClr>
                </a:solidFill>
                <a:latin typeface="Aptos"/>
              </a:rPr>
              <a:t>Audit logs, end to end</a:t>
            </a:r>
          </a:p>
        </p:txBody>
      </p:sp>
    </p:spTree>
    <p:extLst>
      <p:ext uri="{BB962C8B-B14F-4D97-AF65-F5344CB8AC3E}">
        <p14:creationId xmlns:p14="http://schemas.microsoft.com/office/powerpoint/2010/main" val="1642610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Label">
            <a:extLst>
              <a:ext uri="{FF2B5EF4-FFF2-40B4-BE49-F238E27FC236}">
                <a16:creationId xmlns:a16="http://schemas.microsoft.com/office/drawing/2014/main" id="{8F951316-D512-6585-EFCF-AA8AFA799294}"/>
              </a:ext>
            </a:extLst>
          </p:cNvPr>
          <p:cNvSpPr txBox="1"/>
          <p:nvPr/>
        </p:nvSpPr>
        <p:spPr>
          <a:xfrm>
            <a:off x="838200" y="2400000"/>
            <a:ext cx="105156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1" spc="400" dirty="0">
                <a:solidFill>
                  <a:srgbClr val="FFC000"/>
                </a:solidFill>
                <a:latin typeface="Aptos SemiBold"/>
              </a:rPr>
              <a:t>DEMO</a:t>
            </a:r>
          </a:p>
        </p:txBody>
      </p:sp>
      <p:sp>
        <p:nvSpPr>
          <p:cNvPr id="5" name="MainTitle">
            <a:extLst>
              <a:ext uri="{FF2B5EF4-FFF2-40B4-BE49-F238E27FC236}">
                <a16:creationId xmlns:a16="http://schemas.microsoft.com/office/drawing/2014/main" id="{74A1290E-6B12-3A7B-24BD-6B3D16A8C792}"/>
              </a:ext>
            </a:extLst>
          </p:cNvPr>
          <p:cNvSpPr txBox="1"/>
          <p:nvPr/>
        </p:nvSpPr>
        <p:spPr>
          <a:xfrm>
            <a:off x="838200" y="2900000"/>
            <a:ext cx="10515600" cy="1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7200" b="1" dirty="0">
                <a:solidFill>
                  <a:schemeClr val="bg1"/>
                </a:solidFill>
                <a:latin typeface="Aptos SemiBold"/>
              </a:rPr>
              <a:t>The Current state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4F07CD17-417D-1C73-9C37-20CFCD0D0BE6}"/>
              </a:ext>
            </a:extLst>
          </p:cNvPr>
          <p:cNvSpPr txBox="1"/>
          <p:nvPr/>
        </p:nvSpPr>
        <p:spPr>
          <a:xfrm>
            <a:off x="838200" y="4250000"/>
            <a:ext cx="1051560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800" i="1" dirty="0">
                <a:solidFill>
                  <a:schemeClr val="bg2">
                    <a:lumMod val="90000"/>
                  </a:schemeClr>
                </a:solidFill>
                <a:latin typeface="Aptos"/>
              </a:rPr>
              <a:t>Sample application</a:t>
            </a:r>
          </a:p>
        </p:txBody>
      </p:sp>
    </p:spTree>
    <p:extLst>
      <p:ext uri="{BB962C8B-B14F-4D97-AF65-F5344CB8AC3E}">
        <p14:creationId xmlns:p14="http://schemas.microsoft.com/office/powerpoint/2010/main" val="3046454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2038-D655-FDD9-0907-30B88919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616E60-B0FF-1B98-EB0E-52AB60028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F1F1F"/>
                </a:solidFill>
                <a:latin typeface="Aptos SemiBold"/>
              </a:rPr>
              <a:t>Seven stages, seven artifacts</a:t>
            </a:r>
            <a:endParaRPr lang="en-US" dirty="0"/>
          </a:p>
        </p:txBody>
      </p:sp>
      <p:sp>
        <p:nvSpPr>
          <p:cNvPr id="3" name="TxBox161">
            <a:extLst>
              <a:ext uri="{FF2B5EF4-FFF2-40B4-BE49-F238E27FC236}">
                <a16:creationId xmlns:a16="http://schemas.microsoft.com/office/drawing/2014/main" id="{27D898ED-D4CD-FF33-9783-843900559318}"/>
              </a:ext>
            </a:extLst>
          </p:cNvPr>
          <p:cNvSpPr txBox="1"/>
          <p:nvPr/>
        </p:nvSpPr>
        <p:spPr>
          <a:xfrm>
            <a:off x="1050669" y="1884276"/>
            <a:ext cx="2468880" cy="155448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100000" tIns="100000" rIns="100000" bIns="100000" anchor="t"/>
          <a:lstStyle/>
          <a:p>
            <a:pPr algn="ctr">
              <a:buNone/>
            </a:pPr>
            <a:r>
              <a:rPr lang="en-US" sz="3200" b="1" dirty="0">
                <a:solidFill>
                  <a:srgbClr val="FDAD00"/>
                </a:solidFill>
                <a:latin typeface="Aptos SemiBold"/>
              </a:rPr>
              <a:t>01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1F1F1F"/>
                </a:solidFill>
                <a:latin typeface="Aptos"/>
              </a:rPr>
              <a:t>Plan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2400" dirty="0">
                <a:solidFill>
                  <a:srgbClr val="595959"/>
                </a:solidFill>
                <a:latin typeface="Aptos"/>
              </a:rPr>
              <a:t>Interactive HTML</a:t>
            </a:r>
          </a:p>
        </p:txBody>
      </p:sp>
      <p:sp>
        <p:nvSpPr>
          <p:cNvPr id="5" name="TxBox163">
            <a:extLst>
              <a:ext uri="{FF2B5EF4-FFF2-40B4-BE49-F238E27FC236}">
                <a16:creationId xmlns:a16="http://schemas.microsoft.com/office/drawing/2014/main" id="{FFB92084-6C24-B209-8CF6-9B61973065DC}"/>
              </a:ext>
            </a:extLst>
          </p:cNvPr>
          <p:cNvSpPr txBox="1"/>
          <p:nvPr/>
        </p:nvSpPr>
        <p:spPr>
          <a:xfrm>
            <a:off x="3596230" y="1884276"/>
            <a:ext cx="2468880" cy="155448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100000" tIns="100000" rIns="100000" bIns="100000" anchor="t"/>
          <a:lstStyle/>
          <a:p>
            <a:pPr algn="ctr">
              <a:buNone/>
            </a:pPr>
            <a:r>
              <a:rPr lang="en-US" sz="3200" b="1" dirty="0">
                <a:solidFill>
                  <a:srgbClr val="FDAD00"/>
                </a:solidFill>
                <a:latin typeface="Aptos SemiBold"/>
              </a:rPr>
              <a:t>02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1F1F1F"/>
                </a:solidFill>
                <a:latin typeface="Aptos"/>
              </a:rPr>
              <a:t>Approve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2400" dirty="0">
                <a:solidFill>
                  <a:srgbClr val="595959"/>
                </a:solidFill>
                <a:latin typeface="Aptos"/>
              </a:rPr>
              <a:t>ADR + handovers</a:t>
            </a:r>
          </a:p>
        </p:txBody>
      </p:sp>
      <p:sp>
        <p:nvSpPr>
          <p:cNvPr id="9" name="TxBox165">
            <a:extLst>
              <a:ext uri="{FF2B5EF4-FFF2-40B4-BE49-F238E27FC236}">
                <a16:creationId xmlns:a16="http://schemas.microsoft.com/office/drawing/2014/main" id="{E812A8B9-FCFC-0C21-AAC9-DDB0486CB481}"/>
              </a:ext>
            </a:extLst>
          </p:cNvPr>
          <p:cNvSpPr txBox="1"/>
          <p:nvPr/>
        </p:nvSpPr>
        <p:spPr>
          <a:xfrm>
            <a:off x="6133068" y="1884276"/>
            <a:ext cx="2468880" cy="155448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100000" tIns="100000" rIns="100000" bIns="100000" anchor="t"/>
          <a:lstStyle/>
          <a:p>
            <a:pPr algn="ctr">
              <a:buNone/>
            </a:pPr>
            <a:r>
              <a:rPr lang="en-US" sz="3200" b="1" dirty="0">
                <a:solidFill>
                  <a:srgbClr val="FDAD00"/>
                </a:solidFill>
                <a:latin typeface="Aptos SemiBold"/>
              </a:rPr>
              <a:t>03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1F1F1F"/>
                </a:solidFill>
                <a:latin typeface="Aptos"/>
              </a:rPr>
              <a:t>Decompose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2400" dirty="0">
                <a:solidFill>
                  <a:srgbClr val="595959"/>
                </a:solidFill>
                <a:latin typeface="Aptos"/>
              </a:rPr>
              <a:t>Issue tree</a:t>
            </a:r>
          </a:p>
        </p:txBody>
      </p:sp>
      <p:sp>
        <p:nvSpPr>
          <p:cNvPr id="11" name="TxBox167">
            <a:extLst>
              <a:ext uri="{FF2B5EF4-FFF2-40B4-BE49-F238E27FC236}">
                <a16:creationId xmlns:a16="http://schemas.microsoft.com/office/drawing/2014/main" id="{79CCFF0D-0CA1-1AC6-EB8B-FCA811E70CA3}"/>
              </a:ext>
            </a:extLst>
          </p:cNvPr>
          <p:cNvSpPr txBox="1"/>
          <p:nvPr/>
        </p:nvSpPr>
        <p:spPr>
          <a:xfrm>
            <a:off x="8672451" y="1884276"/>
            <a:ext cx="2468880" cy="155448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100000" tIns="100000" rIns="100000" bIns="100000" anchor="t"/>
          <a:lstStyle/>
          <a:p>
            <a:pPr algn="ctr">
              <a:buNone/>
            </a:pPr>
            <a:r>
              <a:rPr lang="en-US" sz="3200" b="1" dirty="0">
                <a:solidFill>
                  <a:srgbClr val="FDAD00"/>
                </a:solidFill>
                <a:latin typeface="Aptos SemiBold"/>
              </a:rPr>
              <a:t>04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1F1F1F"/>
                </a:solidFill>
                <a:latin typeface="Aptos"/>
              </a:rPr>
              <a:t>Build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2400" dirty="0">
                <a:solidFill>
                  <a:srgbClr val="595959"/>
                </a:solidFill>
                <a:latin typeface="Aptos"/>
              </a:rPr>
              <a:t>Commits</a:t>
            </a:r>
          </a:p>
        </p:txBody>
      </p:sp>
      <p:sp>
        <p:nvSpPr>
          <p:cNvPr id="13" name="TxBox169">
            <a:extLst>
              <a:ext uri="{FF2B5EF4-FFF2-40B4-BE49-F238E27FC236}">
                <a16:creationId xmlns:a16="http://schemas.microsoft.com/office/drawing/2014/main" id="{DD49AB9B-0316-3B75-FDEA-6D28858B0AD4}"/>
              </a:ext>
            </a:extLst>
          </p:cNvPr>
          <p:cNvSpPr txBox="1"/>
          <p:nvPr/>
        </p:nvSpPr>
        <p:spPr>
          <a:xfrm>
            <a:off x="2315999" y="3954412"/>
            <a:ext cx="2468880" cy="155448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100000" tIns="100000" rIns="100000" bIns="100000" anchor="t"/>
          <a:lstStyle/>
          <a:p>
            <a:pPr algn="ctr">
              <a:buNone/>
            </a:pPr>
            <a:r>
              <a:rPr lang="en-US" sz="3200" b="1" dirty="0">
                <a:solidFill>
                  <a:srgbClr val="FDAD00"/>
                </a:solidFill>
                <a:latin typeface="Aptos SemiBold"/>
              </a:rPr>
              <a:t>05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1F1F1F"/>
                </a:solidFill>
                <a:latin typeface="Aptos"/>
              </a:rPr>
              <a:t>Verify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2400" dirty="0">
                <a:solidFill>
                  <a:srgbClr val="595959"/>
                </a:solidFill>
                <a:latin typeface="Aptos"/>
              </a:rPr>
              <a:t>Auto + manual</a:t>
            </a:r>
          </a:p>
        </p:txBody>
      </p:sp>
      <p:sp>
        <p:nvSpPr>
          <p:cNvPr id="15" name="TxBox171">
            <a:extLst>
              <a:ext uri="{FF2B5EF4-FFF2-40B4-BE49-F238E27FC236}">
                <a16:creationId xmlns:a16="http://schemas.microsoft.com/office/drawing/2014/main" id="{D45841F0-F880-D942-E82E-A61797881EEE}"/>
              </a:ext>
            </a:extLst>
          </p:cNvPr>
          <p:cNvSpPr txBox="1"/>
          <p:nvPr/>
        </p:nvSpPr>
        <p:spPr>
          <a:xfrm>
            <a:off x="4861560" y="3954412"/>
            <a:ext cx="2468880" cy="155448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100000" tIns="100000" rIns="100000" bIns="100000" anchor="t"/>
          <a:lstStyle/>
          <a:p>
            <a:pPr algn="ctr">
              <a:buNone/>
            </a:pPr>
            <a:r>
              <a:rPr lang="en-US" sz="3200" b="1" dirty="0">
                <a:solidFill>
                  <a:srgbClr val="FDAD00"/>
                </a:solidFill>
                <a:latin typeface="Aptos SemiBold"/>
              </a:rPr>
              <a:t>06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1F1F1F"/>
                </a:solidFill>
                <a:latin typeface="Aptos"/>
              </a:rPr>
              <a:t>Review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2400" dirty="0">
                <a:solidFill>
                  <a:srgbClr val="595959"/>
                </a:solidFill>
                <a:latin typeface="Aptos"/>
              </a:rPr>
              <a:t>PR + reviews</a:t>
            </a:r>
          </a:p>
        </p:txBody>
      </p:sp>
      <p:sp>
        <p:nvSpPr>
          <p:cNvPr id="17" name="TxBox173">
            <a:extLst>
              <a:ext uri="{FF2B5EF4-FFF2-40B4-BE49-F238E27FC236}">
                <a16:creationId xmlns:a16="http://schemas.microsoft.com/office/drawing/2014/main" id="{9B2DB8BA-E62F-5E62-C52E-8B9078B55D09}"/>
              </a:ext>
            </a:extLst>
          </p:cNvPr>
          <p:cNvSpPr txBox="1"/>
          <p:nvPr/>
        </p:nvSpPr>
        <p:spPr>
          <a:xfrm>
            <a:off x="7407121" y="3954412"/>
            <a:ext cx="2468880" cy="155448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100000" tIns="100000" rIns="100000" bIns="100000" anchor="t"/>
          <a:lstStyle/>
          <a:p>
            <a:pPr algn="ctr">
              <a:buNone/>
            </a:pPr>
            <a:r>
              <a:rPr lang="en-US" sz="3200" b="1" dirty="0">
                <a:solidFill>
                  <a:srgbClr val="FDAD00"/>
                </a:solidFill>
                <a:latin typeface="Aptos SemiBold"/>
              </a:rPr>
              <a:t>07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1F1F1F"/>
                </a:solidFill>
                <a:latin typeface="Aptos"/>
              </a:rPr>
              <a:t>Ship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2400" dirty="0">
                <a:solidFill>
                  <a:srgbClr val="595959"/>
                </a:solidFill>
                <a:latin typeface="Aptos"/>
              </a:rPr>
              <a:t>QA + merge</a:t>
            </a:r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F2DDA331-B039-A773-A237-904CBB727D20}"/>
              </a:ext>
            </a:extLst>
          </p:cNvPr>
          <p:cNvSpPr txBox="1"/>
          <p:nvPr/>
        </p:nvSpPr>
        <p:spPr>
          <a:xfrm>
            <a:off x="838200" y="6137275"/>
            <a:ext cx="1051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i="1" dirty="0">
                <a:solidFill>
                  <a:srgbClr val="FDAD00"/>
                </a:solidFill>
                <a:latin typeface="Aptos"/>
              </a:rPr>
              <a:t>Every stage produces a durable artifact — not just a conversation.</a:t>
            </a:r>
          </a:p>
        </p:txBody>
      </p:sp>
    </p:spTree>
    <p:extLst>
      <p:ext uri="{BB962C8B-B14F-4D97-AF65-F5344CB8AC3E}">
        <p14:creationId xmlns:p14="http://schemas.microsoft.com/office/powerpoint/2010/main" val="2030965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2038-D655-FDD9-0907-30B88919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616E60-B0FF-1B98-EB0E-52AB60028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F1F1F"/>
                </a:solidFill>
                <a:latin typeface="Aptos SemiBold"/>
              </a:rPr>
              <a:t>From vague requirement to clarity</a:t>
            </a:r>
          </a:p>
        </p:txBody>
      </p:sp>
      <p:sp>
        <p:nvSpPr>
          <p:cNvPr id="2" name="Zástupný obsah 5">
            <a:extLst>
              <a:ext uri="{FF2B5EF4-FFF2-40B4-BE49-F238E27FC236}">
                <a16:creationId xmlns:a16="http://schemas.microsoft.com/office/drawing/2014/main" id="{42111791-5B71-7B6F-B98C-66486B115278}"/>
              </a:ext>
            </a:extLst>
          </p:cNvPr>
          <p:cNvSpPr txBox="1">
            <a:spLocks/>
          </p:cNvSpPr>
          <p:nvPr/>
        </p:nvSpPr>
        <p:spPr>
          <a:xfrm>
            <a:off x="878840" y="1447510"/>
            <a:ext cx="10515600" cy="486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 SemiBold"/>
              </a:rPr>
              <a:t>Stage 01 · PLAN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xBox170">
            <a:extLst>
              <a:ext uri="{FF2B5EF4-FFF2-40B4-BE49-F238E27FC236}">
                <a16:creationId xmlns:a16="http://schemas.microsoft.com/office/drawing/2014/main" id="{A84F9FA8-0444-A93E-CBF6-FD7F2B08E5AB}"/>
              </a:ext>
            </a:extLst>
          </p:cNvPr>
          <p:cNvSpPr txBox="1"/>
          <p:nvPr/>
        </p:nvSpPr>
        <p:spPr>
          <a:xfrm>
            <a:off x="838200" y="2177044"/>
            <a:ext cx="4900000" cy="3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spc="200" dirty="0">
                <a:solidFill>
                  <a:srgbClr val="FDAD00"/>
                </a:solidFill>
                <a:latin typeface="Aptos SemiBold"/>
              </a:rPr>
              <a:t>WHERE WE START</a:t>
            </a:r>
          </a:p>
        </p:txBody>
      </p:sp>
      <p:sp>
        <p:nvSpPr>
          <p:cNvPr id="4" name="TxBox171">
            <a:extLst>
              <a:ext uri="{FF2B5EF4-FFF2-40B4-BE49-F238E27FC236}">
                <a16:creationId xmlns:a16="http://schemas.microsoft.com/office/drawing/2014/main" id="{44371A47-1E61-A8A4-A5CC-20B5B4392C16}"/>
              </a:ext>
            </a:extLst>
          </p:cNvPr>
          <p:cNvSpPr txBox="1"/>
          <p:nvPr/>
        </p:nvSpPr>
        <p:spPr>
          <a:xfrm>
            <a:off x="838200" y="2627044"/>
            <a:ext cx="490000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800" b="1" i="1" dirty="0">
                <a:solidFill>
                  <a:srgbClr val="1F1F1F"/>
                </a:solidFill>
                <a:latin typeface="Aptos SemiBold"/>
              </a:rPr>
              <a:t>“We need audit logs.”</a:t>
            </a:r>
          </a:p>
        </p:txBody>
      </p:sp>
      <p:sp>
        <p:nvSpPr>
          <p:cNvPr id="5" name="TxBox172">
            <a:extLst>
              <a:ext uri="{FF2B5EF4-FFF2-40B4-BE49-F238E27FC236}">
                <a16:creationId xmlns:a16="http://schemas.microsoft.com/office/drawing/2014/main" id="{D7E8BC50-5C22-3220-24CF-552730943540}"/>
              </a:ext>
            </a:extLst>
          </p:cNvPr>
          <p:cNvSpPr txBox="1"/>
          <p:nvPr/>
        </p:nvSpPr>
        <p:spPr>
          <a:xfrm>
            <a:off x="838200" y="3327044"/>
            <a:ext cx="4900000" cy="2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dirty="0">
                <a:solidFill>
                  <a:srgbClr val="1F1F1F"/>
                </a:solidFill>
                <a:latin typeface="Aptos"/>
              </a:rPr>
              <a:t>•  Which tables?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2400" dirty="0">
                <a:solidFill>
                  <a:srgbClr val="1F1F1F"/>
                </a:solidFill>
                <a:latin typeface="Aptos"/>
              </a:rPr>
              <a:t>•  Who reads them?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2400" dirty="0">
                <a:solidFill>
                  <a:srgbClr val="1F1F1F"/>
                </a:solidFill>
                <a:latin typeface="Aptos"/>
              </a:rPr>
              <a:t>•  Retained how long?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2400" dirty="0">
                <a:solidFill>
                  <a:srgbClr val="1F1F1F"/>
                </a:solidFill>
                <a:latin typeface="Aptos"/>
              </a:rPr>
              <a:t>•  What about deletes?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2400" dirty="0">
                <a:solidFill>
                  <a:srgbClr val="1F1F1F"/>
                </a:solidFill>
                <a:latin typeface="Aptos"/>
              </a:rPr>
              <a:t>•  PII handling?</a:t>
            </a:r>
          </a:p>
        </p:txBody>
      </p:sp>
      <p:sp>
        <p:nvSpPr>
          <p:cNvPr id="8" name="TxBox180">
            <a:extLst>
              <a:ext uri="{FF2B5EF4-FFF2-40B4-BE49-F238E27FC236}">
                <a16:creationId xmlns:a16="http://schemas.microsoft.com/office/drawing/2014/main" id="{A226188F-83D1-9367-805C-70C479D9486D}"/>
              </a:ext>
            </a:extLst>
          </p:cNvPr>
          <p:cNvSpPr txBox="1"/>
          <p:nvPr/>
        </p:nvSpPr>
        <p:spPr>
          <a:xfrm>
            <a:off x="6453800" y="2177044"/>
            <a:ext cx="4900000" cy="3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spc="200" dirty="0">
                <a:solidFill>
                  <a:srgbClr val="FDAD00"/>
                </a:solidFill>
                <a:latin typeface="Aptos SemiBold"/>
              </a:rPr>
              <a:t>FIRST SESSION WITH AI</a:t>
            </a:r>
          </a:p>
        </p:txBody>
      </p:sp>
      <p:sp>
        <p:nvSpPr>
          <p:cNvPr id="9" name="TxBox181">
            <a:extLst>
              <a:ext uri="{FF2B5EF4-FFF2-40B4-BE49-F238E27FC236}">
                <a16:creationId xmlns:a16="http://schemas.microsoft.com/office/drawing/2014/main" id="{85B1A150-B57F-B28C-2DFF-C06A06F5D00F}"/>
              </a:ext>
            </a:extLst>
          </p:cNvPr>
          <p:cNvSpPr txBox="1"/>
          <p:nvPr/>
        </p:nvSpPr>
        <p:spPr>
          <a:xfrm>
            <a:off x="6453799" y="2627044"/>
            <a:ext cx="4899999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800" b="1" dirty="0">
                <a:solidFill>
                  <a:srgbClr val="1F1F1F"/>
                </a:solidFill>
                <a:latin typeface="Aptos SemiBold"/>
              </a:rPr>
              <a:t>Planning, not coding</a:t>
            </a:r>
          </a:p>
        </p:txBody>
      </p:sp>
      <p:sp>
        <p:nvSpPr>
          <p:cNvPr id="10" name="TxBox182">
            <a:extLst>
              <a:ext uri="{FF2B5EF4-FFF2-40B4-BE49-F238E27FC236}">
                <a16:creationId xmlns:a16="http://schemas.microsoft.com/office/drawing/2014/main" id="{66B39B4E-76C7-8D8F-E6B6-D9A7D9639C57}"/>
              </a:ext>
            </a:extLst>
          </p:cNvPr>
          <p:cNvSpPr txBox="1"/>
          <p:nvPr/>
        </p:nvSpPr>
        <p:spPr>
          <a:xfrm>
            <a:off x="6453800" y="3227044"/>
            <a:ext cx="4899998" cy="2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dirty="0">
                <a:solidFill>
                  <a:srgbClr val="1F1F1F"/>
                </a:solidFill>
                <a:latin typeface="Aptos"/>
              </a:rPr>
              <a:t>•  Build interactive HTML prototypes as you talk</a:t>
            </a:r>
          </a:p>
          <a:p>
            <a:pPr algn="l">
              <a:spcBef>
                <a:spcPts val="350"/>
              </a:spcBef>
              <a:buNone/>
            </a:pPr>
            <a:r>
              <a:rPr lang="en-US" sz="2400" dirty="0">
                <a:solidFill>
                  <a:srgbClr val="1F1F1F"/>
                </a:solidFill>
                <a:latin typeface="Aptos"/>
              </a:rPr>
              <a:t>•  Make the system visible while it’s still cheap to change</a:t>
            </a:r>
          </a:p>
          <a:p>
            <a:pPr algn="l">
              <a:spcBef>
                <a:spcPts val="350"/>
              </a:spcBef>
              <a:buNone/>
            </a:pPr>
            <a:r>
              <a:rPr lang="en-US" sz="2400" dirty="0">
                <a:solidFill>
                  <a:srgbClr val="1F1F1F"/>
                </a:solidFill>
                <a:latin typeface="Aptos"/>
              </a:rPr>
              <a:t>•  End with an ADR + developer handovers</a:t>
            </a:r>
          </a:p>
        </p:txBody>
      </p:sp>
      <p:sp>
        <p:nvSpPr>
          <p:cNvPr id="11" name="Footer">
            <a:extLst>
              <a:ext uri="{FF2B5EF4-FFF2-40B4-BE49-F238E27FC236}">
                <a16:creationId xmlns:a16="http://schemas.microsoft.com/office/drawing/2014/main" id="{73E126ED-EB6E-6DFB-B4DD-E999EC256AFF}"/>
              </a:ext>
            </a:extLst>
          </p:cNvPr>
          <p:cNvSpPr txBox="1"/>
          <p:nvPr/>
        </p:nvSpPr>
        <p:spPr>
          <a:xfrm>
            <a:off x="838200" y="6137275"/>
            <a:ext cx="1051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i="1" dirty="0">
                <a:solidFill>
                  <a:srgbClr val="FDAD00"/>
                </a:solidFill>
                <a:latin typeface="Aptos"/>
              </a:rPr>
              <a:t>Principle: AI’s first job is to make the problem legible, not to solve it.</a:t>
            </a:r>
          </a:p>
        </p:txBody>
      </p:sp>
    </p:spTree>
    <p:extLst>
      <p:ext uri="{BB962C8B-B14F-4D97-AF65-F5344CB8AC3E}">
        <p14:creationId xmlns:p14="http://schemas.microsoft.com/office/powerpoint/2010/main" val="820881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D0E4B-CE48-18AC-FD46-49981DB23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Label">
            <a:extLst>
              <a:ext uri="{FF2B5EF4-FFF2-40B4-BE49-F238E27FC236}">
                <a16:creationId xmlns:a16="http://schemas.microsoft.com/office/drawing/2014/main" id="{C7E63729-3899-C3DC-2754-EA97AF1AAB90}"/>
              </a:ext>
            </a:extLst>
          </p:cNvPr>
          <p:cNvSpPr txBox="1"/>
          <p:nvPr/>
        </p:nvSpPr>
        <p:spPr>
          <a:xfrm>
            <a:off x="838200" y="2400000"/>
            <a:ext cx="105156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1" spc="400" dirty="0">
                <a:solidFill>
                  <a:srgbClr val="FFC000"/>
                </a:solidFill>
                <a:latin typeface="Aptos SemiBold"/>
              </a:rPr>
              <a:t>PLAN</a:t>
            </a:r>
          </a:p>
        </p:txBody>
      </p:sp>
      <p:sp>
        <p:nvSpPr>
          <p:cNvPr id="5" name="MainTitle">
            <a:extLst>
              <a:ext uri="{FF2B5EF4-FFF2-40B4-BE49-F238E27FC236}">
                <a16:creationId xmlns:a16="http://schemas.microsoft.com/office/drawing/2014/main" id="{ACA364A1-C641-B2BB-42D9-51DF60051020}"/>
              </a:ext>
            </a:extLst>
          </p:cNvPr>
          <p:cNvSpPr txBox="1"/>
          <p:nvPr/>
        </p:nvSpPr>
        <p:spPr>
          <a:xfrm>
            <a:off x="838200" y="2900000"/>
            <a:ext cx="10515600" cy="1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7200" b="1" dirty="0">
                <a:solidFill>
                  <a:schemeClr val="bg1"/>
                </a:solidFill>
                <a:latin typeface="Aptos SemiBold"/>
              </a:rPr>
              <a:t>Planning session artifacts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E3CD82FF-9593-ADD8-AB2A-19344B8B7C88}"/>
              </a:ext>
            </a:extLst>
          </p:cNvPr>
          <p:cNvSpPr txBox="1"/>
          <p:nvPr/>
        </p:nvSpPr>
        <p:spPr>
          <a:xfrm>
            <a:off x="838200" y="4250000"/>
            <a:ext cx="1051560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800" i="1" dirty="0">
                <a:solidFill>
                  <a:schemeClr val="bg2">
                    <a:lumMod val="90000"/>
                  </a:schemeClr>
                </a:solidFill>
                <a:latin typeface="Aptos"/>
              </a:rPr>
              <a:t>Interactive HTML, ADR, developer handover</a:t>
            </a:r>
          </a:p>
        </p:txBody>
      </p:sp>
    </p:spTree>
    <p:extLst>
      <p:ext uri="{BB962C8B-B14F-4D97-AF65-F5344CB8AC3E}">
        <p14:creationId xmlns:p14="http://schemas.microsoft.com/office/powerpoint/2010/main" val="1428471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2038-D655-FDD9-0907-30B88919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AF1FE1C8-0BF3-8103-709C-1DF050125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1F1F1F"/>
                </a:solidFill>
                <a:latin typeface="Aptos SemiBold"/>
              </a:rPr>
              <a:t>Approval as an engineering step</a:t>
            </a:r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2E04809A-A211-4C16-D009-E19566357D7B}"/>
              </a:ext>
            </a:extLst>
          </p:cNvPr>
          <p:cNvSpPr txBox="1"/>
          <p:nvPr/>
        </p:nvSpPr>
        <p:spPr>
          <a:xfrm>
            <a:off x="838200" y="6137275"/>
            <a:ext cx="1051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i="1">
                <a:solidFill>
                  <a:srgbClr val="FDAD00"/>
                </a:solidFill>
                <a:latin typeface="Aptos"/>
              </a:rPr>
              <a:t>The most expensive bug is building the wrong thing. Catch it here.</a:t>
            </a:r>
          </a:p>
        </p:txBody>
      </p:sp>
      <p:sp>
        <p:nvSpPr>
          <p:cNvPr id="25" name="Rect190">
            <a:extLst>
              <a:ext uri="{FF2B5EF4-FFF2-40B4-BE49-F238E27FC236}">
                <a16:creationId xmlns:a16="http://schemas.microsoft.com/office/drawing/2014/main" id="{9D4D9959-1150-4687-AE46-1FC012ED03EE}"/>
              </a:ext>
            </a:extLst>
          </p:cNvPr>
          <p:cNvSpPr/>
          <p:nvPr/>
        </p:nvSpPr>
        <p:spPr>
          <a:xfrm>
            <a:off x="946000" y="2249999"/>
            <a:ext cx="3403578" cy="308846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6" name="Rect191">
            <a:extLst>
              <a:ext uri="{FF2B5EF4-FFF2-40B4-BE49-F238E27FC236}">
                <a16:creationId xmlns:a16="http://schemas.microsoft.com/office/drawing/2014/main" id="{7BEE2EBB-3A1C-77C7-32AB-C8FC7F795186}"/>
              </a:ext>
            </a:extLst>
          </p:cNvPr>
          <p:cNvSpPr/>
          <p:nvPr/>
        </p:nvSpPr>
        <p:spPr>
          <a:xfrm>
            <a:off x="946000" y="2249999"/>
            <a:ext cx="91440" cy="3088461"/>
          </a:xfrm>
          <a:prstGeom prst="rect">
            <a:avLst/>
          </a:prstGeom>
          <a:solidFill>
            <a:srgbClr val="FDAD0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7" name="TxBox192">
            <a:extLst>
              <a:ext uri="{FF2B5EF4-FFF2-40B4-BE49-F238E27FC236}">
                <a16:creationId xmlns:a16="http://schemas.microsoft.com/office/drawing/2014/main" id="{29A3AA69-4F3E-BCF8-77BF-F6B5A40D1338}"/>
              </a:ext>
            </a:extLst>
          </p:cNvPr>
          <p:cNvSpPr txBox="1"/>
          <p:nvPr/>
        </p:nvSpPr>
        <p:spPr>
          <a:xfrm>
            <a:off x="1025998" y="2375858"/>
            <a:ext cx="3323579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000" b="1">
                <a:solidFill>
                  <a:srgbClr val="FDAD00"/>
                </a:solidFill>
                <a:latin typeface="Aptos SemiBold"/>
              </a:rPr>
              <a:t>01</a:t>
            </a:r>
          </a:p>
        </p:txBody>
      </p:sp>
      <p:sp>
        <p:nvSpPr>
          <p:cNvPr id="28" name="TxBox193">
            <a:extLst>
              <a:ext uri="{FF2B5EF4-FFF2-40B4-BE49-F238E27FC236}">
                <a16:creationId xmlns:a16="http://schemas.microsoft.com/office/drawing/2014/main" id="{A9F602D8-3E1D-91FD-9500-37AC8D5A75C7}"/>
              </a:ext>
            </a:extLst>
          </p:cNvPr>
          <p:cNvSpPr txBox="1"/>
          <p:nvPr/>
        </p:nvSpPr>
        <p:spPr>
          <a:xfrm>
            <a:off x="946000" y="3027002"/>
            <a:ext cx="3403578" cy="600000"/>
          </a:xfrm>
          <a:prstGeom prst="rect">
            <a:avLst/>
          </a:prstGeom>
          <a:noFill/>
        </p:spPr>
        <p:txBody>
          <a:bodyPr wrap="square" lIns="150000" tIns="0" rIns="150000" bIns="0" anchor="t"/>
          <a:lstStyle/>
          <a:p>
            <a:pPr algn="ctr">
              <a:buNone/>
            </a:pPr>
            <a:r>
              <a:rPr lang="en-US" sz="2800" b="1">
                <a:solidFill>
                  <a:srgbClr val="1F1F1F"/>
                </a:solidFill>
                <a:latin typeface="Aptos SemiBold"/>
              </a:rPr>
              <a:t>Show the prototype</a:t>
            </a:r>
          </a:p>
        </p:txBody>
      </p:sp>
      <p:sp>
        <p:nvSpPr>
          <p:cNvPr id="29" name="TxBox194">
            <a:extLst>
              <a:ext uri="{FF2B5EF4-FFF2-40B4-BE49-F238E27FC236}">
                <a16:creationId xmlns:a16="http://schemas.microsoft.com/office/drawing/2014/main" id="{A5FF9F91-C3E8-0E44-240D-0E28F28A8320}"/>
              </a:ext>
            </a:extLst>
          </p:cNvPr>
          <p:cNvSpPr txBox="1"/>
          <p:nvPr/>
        </p:nvSpPr>
        <p:spPr>
          <a:xfrm>
            <a:off x="1025999" y="3750000"/>
            <a:ext cx="3318489" cy="1100000"/>
          </a:xfrm>
          <a:prstGeom prst="rect">
            <a:avLst/>
          </a:prstGeom>
          <a:noFill/>
        </p:spPr>
        <p:txBody>
          <a:bodyPr wrap="square" lIns="150000" tIns="0" rIns="150000" bIns="0" anchor="t"/>
          <a:lstStyle/>
          <a:p>
            <a:pPr algn="ctr">
              <a:buNone/>
            </a:pPr>
            <a:r>
              <a:rPr lang="en-US" sz="2400">
                <a:solidFill>
                  <a:srgbClr val="595959"/>
                </a:solidFill>
                <a:latin typeface="Aptos"/>
              </a:rPr>
              <a:t>Stakeholders click the actual screens. No imagination tax.</a:t>
            </a:r>
          </a:p>
        </p:txBody>
      </p:sp>
      <p:sp>
        <p:nvSpPr>
          <p:cNvPr id="30" name="Rect195">
            <a:extLst>
              <a:ext uri="{FF2B5EF4-FFF2-40B4-BE49-F238E27FC236}">
                <a16:creationId xmlns:a16="http://schemas.microsoft.com/office/drawing/2014/main" id="{356396B4-98DC-E524-D9A6-F4342A32BD64}"/>
              </a:ext>
            </a:extLst>
          </p:cNvPr>
          <p:cNvSpPr/>
          <p:nvPr/>
        </p:nvSpPr>
        <p:spPr>
          <a:xfrm>
            <a:off x="4496000" y="2249999"/>
            <a:ext cx="3403578" cy="308846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1" name="Rect196">
            <a:extLst>
              <a:ext uri="{FF2B5EF4-FFF2-40B4-BE49-F238E27FC236}">
                <a16:creationId xmlns:a16="http://schemas.microsoft.com/office/drawing/2014/main" id="{BD8674C0-67EA-230A-00FD-1158F2472CC7}"/>
              </a:ext>
            </a:extLst>
          </p:cNvPr>
          <p:cNvSpPr/>
          <p:nvPr/>
        </p:nvSpPr>
        <p:spPr>
          <a:xfrm>
            <a:off x="4496000" y="2249999"/>
            <a:ext cx="91440" cy="3088461"/>
          </a:xfrm>
          <a:prstGeom prst="rect">
            <a:avLst/>
          </a:prstGeom>
          <a:solidFill>
            <a:srgbClr val="FDAD0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2" name="TxBox197">
            <a:extLst>
              <a:ext uri="{FF2B5EF4-FFF2-40B4-BE49-F238E27FC236}">
                <a16:creationId xmlns:a16="http://schemas.microsoft.com/office/drawing/2014/main" id="{ACB57CE1-2D26-C6F4-E6A3-2E8F03699D58}"/>
              </a:ext>
            </a:extLst>
          </p:cNvPr>
          <p:cNvSpPr txBox="1"/>
          <p:nvPr/>
        </p:nvSpPr>
        <p:spPr>
          <a:xfrm>
            <a:off x="4575998" y="2375858"/>
            <a:ext cx="3323579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000" b="1">
                <a:solidFill>
                  <a:srgbClr val="FDAD00"/>
                </a:solidFill>
                <a:latin typeface="Aptos SemiBold"/>
              </a:rPr>
              <a:t>02</a:t>
            </a:r>
          </a:p>
        </p:txBody>
      </p:sp>
      <p:sp>
        <p:nvSpPr>
          <p:cNvPr id="33" name="TxBox198">
            <a:extLst>
              <a:ext uri="{FF2B5EF4-FFF2-40B4-BE49-F238E27FC236}">
                <a16:creationId xmlns:a16="http://schemas.microsoft.com/office/drawing/2014/main" id="{B4BAADAA-D742-DFA7-5568-72AED4520393}"/>
              </a:ext>
            </a:extLst>
          </p:cNvPr>
          <p:cNvSpPr txBox="1"/>
          <p:nvPr/>
        </p:nvSpPr>
        <p:spPr>
          <a:xfrm>
            <a:off x="4496000" y="3027002"/>
            <a:ext cx="3403578" cy="600000"/>
          </a:xfrm>
          <a:prstGeom prst="rect">
            <a:avLst/>
          </a:prstGeom>
          <a:noFill/>
        </p:spPr>
        <p:txBody>
          <a:bodyPr wrap="square" lIns="150000" tIns="0" rIns="150000" bIns="0" anchor="t"/>
          <a:lstStyle/>
          <a:p>
            <a:pPr algn="ctr">
              <a:buNone/>
            </a:pPr>
            <a:r>
              <a:rPr lang="en-US" sz="2800" b="1">
                <a:solidFill>
                  <a:srgbClr val="1F1F1F"/>
                </a:solidFill>
                <a:latin typeface="Aptos SemiBold"/>
              </a:rPr>
              <a:t>Read the ADR</a:t>
            </a:r>
          </a:p>
        </p:txBody>
      </p:sp>
      <p:sp>
        <p:nvSpPr>
          <p:cNvPr id="34" name="TxBox199">
            <a:extLst>
              <a:ext uri="{FF2B5EF4-FFF2-40B4-BE49-F238E27FC236}">
                <a16:creationId xmlns:a16="http://schemas.microsoft.com/office/drawing/2014/main" id="{9A97D471-00A7-352C-42A5-09262C32D92F}"/>
              </a:ext>
            </a:extLst>
          </p:cNvPr>
          <p:cNvSpPr txBox="1"/>
          <p:nvPr/>
        </p:nvSpPr>
        <p:spPr>
          <a:xfrm>
            <a:off x="4575999" y="3750000"/>
            <a:ext cx="3318489" cy="1100000"/>
          </a:xfrm>
          <a:prstGeom prst="rect">
            <a:avLst/>
          </a:prstGeom>
          <a:noFill/>
        </p:spPr>
        <p:txBody>
          <a:bodyPr wrap="square" lIns="150000" tIns="0" rIns="150000" bIns="0" anchor="t"/>
          <a:lstStyle/>
          <a:p>
            <a:pPr algn="ctr">
              <a:buNone/>
            </a:pPr>
            <a:r>
              <a:rPr lang="en-US" sz="2400">
                <a:solidFill>
                  <a:srgbClr val="595959"/>
                </a:solidFill>
                <a:latin typeface="Aptos"/>
              </a:rPr>
              <a:t>What’s decided, what’s deferred, what’s rejected - in writing.</a:t>
            </a:r>
          </a:p>
        </p:txBody>
      </p:sp>
      <p:sp>
        <p:nvSpPr>
          <p:cNvPr id="35" name="Rect200">
            <a:extLst>
              <a:ext uri="{FF2B5EF4-FFF2-40B4-BE49-F238E27FC236}">
                <a16:creationId xmlns:a16="http://schemas.microsoft.com/office/drawing/2014/main" id="{6B1B5CA1-467D-DB78-3F94-13297EF1A1E8}"/>
              </a:ext>
            </a:extLst>
          </p:cNvPr>
          <p:cNvSpPr/>
          <p:nvPr/>
        </p:nvSpPr>
        <p:spPr>
          <a:xfrm>
            <a:off x="8046000" y="2249999"/>
            <a:ext cx="3403578" cy="308846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6" name="Rect201">
            <a:extLst>
              <a:ext uri="{FF2B5EF4-FFF2-40B4-BE49-F238E27FC236}">
                <a16:creationId xmlns:a16="http://schemas.microsoft.com/office/drawing/2014/main" id="{29379D53-D941-E75D-12BC-F4B471C12D62}"/>
              </a:ext>
            </a:extLst>
          </p:cNvPr>
          <p:cNvSpPr/>
          <p:nvPr/>
        </p:nvSpPr>
        <p:spPr>
          <a:xfrm>
            <a:off x="8046000" y="2249999"/>
            <a:ext cx="91440" cy="3088461"/>
          </a:xfrm>
          <a:prstGeom prst="rect">
            <a:avLst/>
          </a:prstGeom>
          <a:solidFill>
            <a:srgbClr val="FDAD0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7" name="TxBox202">
            <a:extLst>
              <a:ext uri="{FF2B5EF4-FFF2-40B4-BE49-F238E27FC236}">
                <a16:creationId xmlns:a16="http://schemas.microsoft.com/office/drawing/2014/main" id="{C05DE133-C3B8-877C-FACD-EA0DEE02D3A6}"/>
              </a:ext>
            </a:extLst>
          </p:cNvPr>
          <p:cNvSpPr txBox="1"/>
          <p:nvPr/>
        </p:nvSpPr>
        <p:spPr>
          <a:xfrm>
            <a:off x="8125998" y="2375858"/>
            <a:ext cx="3323579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000" b="1">
                <a:solidFill>
                  <a:srgbClr val="FDAD00"/>
                </a:solidFill>
                <a:latin typeface="Aptos SemiBold"/>
              </a:rPr>
              <a:t>03</a:t>
            </a:r>
          </a:p>
        </p:txBody>
      </p:sp>
      <p:sp>
        <p:nvSpPr>
          <p:cNvPr id="38" name="TxBox203">
            <a:extLst>
              <a:ext uri="{FF2B5EF4-FFF2-40B4-BE49-F238E27FC236}">
                <a16:creationId xmlns:a16="http://schemas.microsoft.com/office/drawing/2014/main" id="{611BC764-B091-B0F6-EA51-E76D33BE1708}"/>
              </a:ext>
            </a:extLst>
          </p:cNvPr>
          <p:cNvSpPr txBox="1"/>
          <p:nvPr/>
        </p:nvSpPr>
        <p:spPr>
          <a:xfrm>
            <a:off x="8046000" y="3027002"/>
            <a:ext cx="3403578" cy="600000"/>
          </a:xfrm>
          <a:prstGeom prst="rect">
            <a:avLst/>
          </a:prstGeom>
          <a:noFill/>
        </p:spPr>
        <p:txBody>
          <a:bodyPr wrap="square" lIns="150000" tIns="0" rIns="150000" bIns="0" anchor="t"/>
          <a:lstStyle/>
          <a:p>
            <a:pPr algn="ctr">
              <a:buNone/>
            </a:pPr>
            <a:r>
              <a:rPr lang="en-US" sz="2800" b="1">
                <a:solidFill>
                  <a:srgbClr val="1F1F1F"/>
                </a:solidFill>
                <a:latin typeface="Aptos SemiBold"/>
              </a:rPr>
              <a:t>Get explicit sign-off</a:t>
            </a:r>
          </a:p>
        </p:txBody>
      </p:sp>
      <p:sp>
        <p:nvSpPr>
          <p:cNvPr id="39" name="TxBox204">
            <a:extLst>
              <a:ext uri="{FF2B5EF4-FFF2-40B4-BE49-F238E27FC236}">
                <a16:creationId xmlns:a16="http://schemas.microsoft.com/office/drawing/2014/main" id="{EF23073B-A2B8-88AA-338D-A09B92B85625}"/>
              </a:ext>
            </a:extLst>
          </p:cNvPr>
          <p:cNvSpPr txBox="1"/>
          <p:nvPr/>
        </p:nvSpPr>
        <p:spPr>
          <a:xfrm>
            <a:off x="8125999" y="3750000"/>
            <a:ext cx="3318489" cy="1100000"/>
          </a:xfrm>
          <a:prstGeom prst="rect">
            <a:avLst/>
          </a:prstGeom>
          <a:noFill/>
        </p:spPr>
        <p:txBody>
          <a:bodyPr wrap="square" lIns="150000" tIns="0" rIns="150000" bIns="0" anchor="t"/>
          <a:lstStyle/>
          <a:p>
            <a:pPr algn="ctr">
              <a:buNone/>
            </a:pPr>
            <a:r>
              <a:rPr lang="en-US" sz="2400">
                <a:solidFill>
                  <a:srgbClr val="595959"/>
                </a:solidFill>
                <a:latin typeface="Aptos"/>
              </a:rPr>
              <a:t>Approval is against artifacts, not promises.</a:t>
            </a:r>
          </a:p>
        </p:txBody>
      </p:sp>
      <p:sp>
        <p:nvSpPr>
          <p:cNvPr id="40" name="Zástupný obsah 5">
            <a:extLst>
              <a:ext uri="{FF2B5EF4-FFF2-40B4-BE49-F238E27FC236}">
                <a16:creationId xmlns:a16="http://schemas.microsoft.com/office/drawing/2014/main" id="{7509E025-2CC0-5814-E86E-308C4B1E8D2E}"/>
              </a:ext>
            </a:extLst>
          </p:cNvPr>
          <p:cNvSpPr txBox="1">
            <a:spLocks/>
          </p:cNvSpPr>
          <p:nvPr/>
        </p:nvSpPr>
        <p:spPr>
          <a:xfrm>
            <a:off x="878840" y="1447510"/>
            <a:ext cx="10515600" cy="486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  <a:latin typeface="Aptos SemiBold"/>
              </a:rPr>
              <a:t>Stage 02 · APPROVE</a:t>
            </a:r>
          </a:p>
        </p:txBody>
      </p:sp>
    </p:spTree>
    <p:extLst>
      <p:ext uri="{BB962C8B-B14F-4D97-AF65-F5344CB8AC3E}">
        <p14:creationId xmlns:p14="http://schemas.microsoft.com/office/powerpoint/2010/main" val="1168997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2038-D655-FDD9-0907-30B88919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331A6399-D2DE-00C0-28BD-DF41169FE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1F1F1F"/>
                </a:solidFill>
                <a:latin typeface="Aptos SemiBold"/>
              </a:rPr>
              <a:t>From ADR to linked issues</a:t>
            </a:r>
          </a:p>
        </p:txBody>
      </p:sp>
      <p:sp>
        <p:nvSpPr>
          <p:cNvPr id="14" name="Footer">
            <a:extLst>
              <a:ext uri="{FF2B5EF4-FFF2-40B4-BE49-F238E27FC236}">
                <a16:creationId xmlns:a16="http://schemas.microsoft.com/office/drawing/2014/main" id="{E52B2985-3A84-3FF7-ACB5-5F75E14C06C5}"/>
              </a:ext>
            </a:extLst>
          </p:cNvPr>
          <p:cNvSpPr txBox="1"/>
          <p:nvPr/>
        </p:nvSpPr>
        <p:spPr>
          <a:xfrm>
            <a:off x="838200" y="6137275"/>
            <a:ext cx="1051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i="1">
                <a:solidFill>
                  <a:srgbClr val="FDAD00"/>
                </a:solidFill>
                <a:latin typeface="Aptos"/>
              </a:rPr>
              <a:t>Principle: if it isn’t an issue, it won’t happen. Even with AI.</a:t>
            </a:r>
          </a:p>
        </p:txBody>
      </p:sp>
      <p:sp>
        <p:nvSpPr>
          <p:cNvPr id="17" name="TxBox210">
            <a:extLst>
              <a:ext uri="{FF2B5EF4-FFF2-40B4-BE49-F238E27FC236}">
                <a16:creationId xmlns:a16="http://schemas.microsoft.com/office/drawing/2014/main" id="{042BB7AB-E1D5-C042-B602-91E4EADB506A}"/>
              </a:ext>
            </a:extLst>
          </p:cNvPr>
          <p:cNvSpPr txBox="1"/>
          <p:nvPr/>
        </p:nvSpPr>
        <p:spPr>
          <a:xfrm>
            <a:off x="838200" y="2198284"/>
            <a:ext cx="4900000" cy="3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spc="200">
                <a:solidFill>
                  <a:srgbClr val="FDAD00"/>
                </a:solidFill>
                <a:latin typeface="Aptos SemiBold"/>
              </a:rPr>
              <a:t>FEATURE: AUDIT LOGGING</a:t>
            </a:r>
          </a:p>
        </p:txBody>
      </p:sp>
      <p:sp>
        <p:nvSpPr>
          <p:cNvPr id="18" name="Rect211">
            <a:extLst>
              <a:ext uri="{FF2B5EF4-FFF2-40B4-BE49-F238E27FC236}">
                <a16:creationId xmlns:a16="http://schemas.microsoft.com/office/drawing/2014/main" id="{E31133AB-244E-537B-5013-BE1128A14A40}"/>
              </a:ext>
            </a:extLst>
          </p:cNvPr>
          <p:cNvSpPr/>
          <p:nvPr/>
        </p:nvSpPr>
        <p:spPr>
          <a:xfrm>
            <a:off x="838200" y="2648284"/>
            <a:ext cx="4900000" cy="448056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</a:ln>
        </p:spPr>
        <p:txBody>
          <a:bodyPr wrap="square"/>
          <a:lstStyle/>
          <a:p>
            <a:endParaRPr lang="en-US" sz="2400"/>
          </a:p>
        </p:txBody>
      </p:sp>
      <p:sp>
        <p:nvSpPr>
          <p:cNvPr id="19" name="Rect212">
            <a:extLst>
              <a:ext uri="{FF2B5EF4-FFF2-40B4-BE49-F238E27FC236}">
                <a16:creationId xmlns:a16="http://schemas.microsoft.com/office/drawing/2014/main" id="{D036D28D-2DCA-66F9-9BB1-294299202859}"/>
              </a:ext>
            </a:extLst>
          </p:cNvPr>
          <p:cNvSpPr/>
          <p:nvPr/>
        </p:nvSpPr>
        <p:spPr>
          <a:xfrm>
            <a:off x="838200" y="2648284"/>
            <a:ext cx="50000" cy="448056"/>
          </a:xfrm>
          <a:prstGeom prst="rect">
            <a:avLst/>
          </a:prstGeom>
          <a:solidFill>
            <a:srgbClr val="FDAD00"/>
          </a:solidFill>
          <a:ln>
            <a:noFill/>
          </a:ln>
        </p:spPr>
        <p:txBody>
          <a:bodyPr wrap="square"/>
          <a:lstStyle/>
          <a:p>
            <a:endParaRPr lang="en-US" sz="2400"/>
          </a:p>
        </p:txBody>
      </p:sp>
      <p:sp>
        <p:nvSpPr>
          <p:cNvPr id="20" name="TxBox213">
            <a:extLst>
              <a:ext uri="{FF2B5EF4-FFF2-40B4-BE49-F238E27FC236}">
                <a16:creationId xmlns:a16="http://schemas.microsoft.com/office/drawing/2014/main" id="{6126C99B-40D6-A09A-1E59-74C2888CD3FF}"/>
              </a:ext>
            </a:extLst>
          </p:cNvPr>
          <p:cNvSpPr txBox="1"/>
          <p:nvPr/>
        </p:nvSpPr>
        <p:spPr>
          <a:xfrm>
            <a:off x="988200" y="2648284"/>
            <a:ext cx="4750000" cy="448056"/>
          </a:xfrm>
          <a:prstGeom prst="rect">
            <a:avLst/>
          </a:prstGeom>
          <a:noFill/>
        </p:spPr>
        <p:txBody>
          <a:bodyPr wrap="square" lIns="0" tIns="75000" rIns="0" bIns="0" anchor="t"/>
          <a:lstStyle/>
          <a:p>
            <a:pPr algn="l">
              <a:buNone/>
            </a:pPr>
            <a:r>
              <a:rPr lang="en-US" sz="2400" b="1">
                <a:solidFill>
                  <a:srgbClr val="1F1F1F"/>
                </a:solidFill>
                <a:latin typeface="Aptos"/>
              </a:rPr>
              <a:t>Schema &amp; migration</a:t>
            </a:r>
          </a:p>
        </p:txBody>
      </p:sp>
      <p:sp>
        <p:nvSpPr>
          <p:cNvPr id="21" name="Rect214">
            <a:extLst>
              <a:ext uri="{FF2B5EF4-FFF2-40B4-BE49-F238E27FC236}">
                <a16:creationId xmlns:a16="http://schemas.microsoft.com/office/drawing/2014/main" id="{393370EB-F299-C396-A89B-839E3AC9CF02}"/>
              </a:ext>
            </a:extLst>
          </p:cNvPr>
          <p:cNvSpPr/>
          <p:nvPr/>
        </p:nvSpPr>
        <p:spPr>
          <a:xfrm>
            <a:off x="838200" y="3199062"/>
            <a:ext cx="4900000" cy="448056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</a:ln>
        </p:spPr>
        <p:txBody>
          <a:bodyPr wrap="square"/>
          <a:lstStyle/>
          <a:p>
            <a:endParaRPr lang="en-US" sz="2400"/>
          </a:p>
        </p:txBody>
      </p:sp>
      <p:sp>
        <p:nvSpPr>
          <p:cNvPr id="22" name="Rect215">
            <a:extLst>
              <a:ext uri="{FF2B5EF4-FFF2-40B4-BE49-F238E27FC236}">
                <a16:creationId xmlns:a16="http://schemas.microsoft.com/office/drawing/2014/main" id="{5AC50CE7-38C7-CF32-4A3C-6FC4F6F05E9D}"/>
              </a:ext>
            </a:extLst>
          </p:cNvPr>
          <p:cNvSpPr/>
          <p:nvPr/>
        </p:nvSpPr>
        <p:spPr>
          <a:xfrm>
            <a:off x="838200" y="3199062"/>
            <a:ext cx="50000" cy="448056"/>
          </a:xfrm>
          <a:prstGeom prst="rect">
            <a:avLst/>
          </a:prstGeom>
          <a:solidFill>
            <a:srgbClr val="FDAD00"/>
          </a:solidFill>
          <a:ln>
            <a:noFill/>
          </a:ln>
        </p:spPr>
        <p:txBody>
          <a:bodyPr wrap="square"/>
          <a:lstStyle/>
          <a:p>
            <a:endParaRPr lang="en-US" sz="2400"/>
          </a:p>
        </p:txBody>
      </p:sp>
      <p:sp>
        <p:nvSpPr>
          <p:cNvPr id="23" name="TxBox216">
            <a:extLst>
              <a:ext uri="{FF2B5EF4-FFF2-40B4-BE49-F238E27FC236}">
                <a16:creationId xmlns:a16="http://schemas.microsoft.com/office/drawing/2014/main" id="{905541B1-4F9C-7E28-F91D-F12F333AA57D}"/>
              </a:ext>
            </a:extLst>
          </p:cNvPr>
          <p:cNvSpPr txBox="1"/>
          <p:nvPr/>
        </p:nvSpPr>
        <p:spPr>
          <a:xfrm>
            <a:off x="988200" y="3199062"/>
            <a:ext cx="4750000" cy="448056"/>
          </a:xfrm>
          <a:prstGeom prst="rect">
            <a:avLst/>
          </a:prstGeom>
          <a:noFill/>
        </p:spPr>
        <p:txBody>
          <a:bodyPr wrap="square" lIns="0" tIns="75000" rIns="0" bIns="0" anchor="t"/>
          <a:lstStyle/>
          <a:p>
            <a:pPr algn="l">
              <a:buNone/>
            </a:pPr>
            <a:r>
              <a:rPr lang="en-US" sz="2400" b="1">
                <a:solidFill>
                  <a:srgbClr val="1F1F1F"/>
                </a:solidFill>
                <a:latin typeface="Aptos"/>
              </a:rPr>
              <a:t>Write path &amp; triggers</a:t>
            </a:r>
          </a:p>
        </p:txBody>
      </p:sp>
      <p:sp>
        <p:nvSpPr>
          <p:cNvPr id="24" name="Rect217">
            <a:extLst>
              <a:ext uri="{FF2B5EF4-FFF2-40B4-BE49-F238E27FC236}">
                <a16:creationId xmlns:a16="http://schemas.microsoft.com/office/drawing/2014/main" id="{EAC5FDF3-E7F2-4A54-062F-FDCF828C7B33}"/>
              </a:ext>
            </a:extLst>
          </p:cNvPr>
          <p:cNvSpPr/>
          <p:nvPr/>
        </p:nvSpPr>
        <p:spPr>
          <a:xfrm>
            <a:off x="838200" y="3744838"/>
            <a:ext cx="4900000" cy="448056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</a:ln>
        </p:spPr>
        <p:txBody>
          <a:bodyPr wrap="square"/>
          <a:lstStyle/>
          <a:p>
            <a:endParaRPr lang="en-US" sz="2400"/>
          </a:p>
        </p:txBody>
      </p:sp>
      <p:sp>
        <p:nvSpPr>
          <p:cNvPr id="25" name="Rect218">
            <a:extLst>
              <a:ext uri="{FF2B5EF4-FFF2-40B4-BE49-F238E27FC236}">
                <a16:creationId xmlns:a16="http://schemas.microsoft.com/office/drawing/2014/main" id="{5F675514-F71C-6159-D04F-9978F4D7D0FD}"/>
              </a:ext>
            </a:extLst>
          </p:cNvPr>
          <p:cNvSpPr/>
          <p:nvPr/>
        </p:nvSpPr>
        <p:spPr>
          <a:xfrm>
            <a:off x="838200" y="3744838"/>
            <a:ext cx="50000" cy="448056"/>
          </a:xfrm>
          <a:prstGeom prst="rect">
            <a:avLst/>
          </a:prstGeom>
          <a:solidFill>
            <a:srgbClr val="FDAD00"/>
          </a:solidFill>
          <a:ln>
            <a:noFill/>
          </a:ln>
        </p:spPr>
        <p:txBody>
          <a:bodyPr wrap="square"/>
          <a:lstStyle/>
          <a:p>
            <a:endParaRPr lang="en-US" sz="2400"/>
          </a:p>
        </p:txBody>
      </p:sp>
      <p:sp>
        <p:nvSpPr>
          <p:cNvPr id="26" name="TxBox219">
            <a:extLst>
              <a:ext uri="{FF2B5EF4-FFF2-40B4-BE49-F238E27FC236}">
                <a16:creationId xmlns:a16="http://schemas.microsoft.com/office/drawing/2014/main" id="{6AFF7F88-AE99-D82C-14C8-55FAD38C6C1E}"/>
              </a:ext>
            </a:extLst>
          </p:cNvPr>
          <p:cNvSpPr txBox="1"/>
          <p:nvPr/>
        </p:nvSpPr>
        <p:spPr>
          <a:xfrm>
            <a:off x="988200" y="3744838"/>
            <a:ext cx="4750000" cy="448056"/>
          </a:xfrm>
          <a:prstGeom prst="rect">
            <a:avLst/>
          </a:prstGeom>
          <a:noFill/>
        </p:spPr>
        <p:txBody>
          <a:bodyPr wrap="square" lIns="0" tIns="75000" rIns="0" bIns="0" anchor="t"/>
          <a:lstStyle/>
          <a:p>
            <a:pPr algn="l">
              <a:buNone/>
            </a:pPr>
            <a:r>
              <a:rPr lang="en-US" sz="2400" b="1">
                <a:solidFill>
                  <a:srgbClr val="1F1F1F"/>
                </a:solidFill>
                <a:latin typeface="Aptos"/>
              </a:rPr>
              <a:t>Read API &amp; viewer UI</a:t>
            </a:r>
          </a:p>
        </p:txBody>
      </p:sp>
      <p:sp>
        <p:nvSpPr>
          <p:cNvPr id="28" name="TxBox221">
            <a:extLst>
              <a:ext uri="{FF2B5EF4-FFF2-40B4-BE49-F238E27FC236}">
                <a16:creationId xmlns:a16="http://schemas.microsoft.com/office/drawing/2014/main" id="{00DEB0D7-1BA6-25AD-E639-B4ECBD1CAF29}"/>
              </a:ext>
            </a:extLst>
          </p:cNvPr>
          <p:cNvSpPr txBox="1"/>
          <p:nvPr/>
        </p:nvSpPr>
        <p:spPr>
          <a:xfrm>
            <a:off x="6453800" y="2648284"/>
            <a:ext cx="4750000" cy="44805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91440" tIns="0" rIns="0" bIns="0" anchor="ctr" anchorCtr="0"/>
          <a:lstStyle/>
          <a:p>
            <a:pPr algn="l">
              <a:buNone/>
            </a:pPr>
            <a:r>
              <a:rPr lang="en-US" sz="2400">
                <a:solidFill>
                  <a:srgbClr val="595959"/>
                </a:solidFill>
                <a:latin typeface="Aptos"/>
              </a:rPr>
              <a:t>Tests (unit + integration)</a:t>
            </a:r>
          </a:p>
        </p:txBody>
      </p:sp>
      <p:sp>
        <p:nvSpPr>
          <p:cNvPr id="30" name="TxBox223">
            <a:extLst>
              <a:ext uri="{FF2B5EF4-FFF2-40B4-BE49-F238E27FC236}">
                <a16:creationId xmlns:a16="http://schemas.microsoft.com/office/drawing/2014/main" id="{F2C8C689-90F0-5DAF-768B-BF4470B82AD8}"/>
              </a:ext>
            </a:extLst>
          </p:cNvPr>
          <p:cNvSpPr txBox="1"/>
          <p:nvPr/>
        </p:nvSpPr>
        <p:spPr>
          <a:xfrm>
            <a:off x="6453800" y="3199062"/>
            <a:ext cx="4750000" cy="44805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91440" tIns="0" rIns="0" bIns="0" anchor="ctr" anchorCtr="0"/>
          <a:lstStyle/>
          <a:p>
            <a:pPr algn="l">
              <a:buNone/>
            </a:pPr>
            <a:r>
              <a:rPr lang="en-US" sz="2400">
                <a:solidFill>
                  <a:srgbClr val="595959"/>
                </a:solidFill>
                <a:latin typeface="Aptos"/>
              </a:rPr>
              <a:t>Documentation update</a:t>
            </a:r>
          </a:p>
        </p:txBody>
      </p:sp>
      <p:sp>
        <p:nvSpPr>
          <p:cNvPr id="32" name="TxBox225">
            <a:extLst>
              <a:ext uri="{FF2B5EF4-FFF2-40B4-BE49-F238E27FC236}">
                <a16:creationId xmlns:a16="http://schemas.microsoft.com/office/drawing/2014/main" id="{4E9EC403-70E7-37B1-B4A1-F65137112A5C}"/>
              </a:ext>
            </a:extLst>
          </p:cNvPr>
          <p:cNvSpPr txBox="1"/>
          <p:nvPr/>
        </p:nvSpPr>
        <p:spPr>
          <a:xfrm>
            <a:off x="6453800" y="3743797"/>
            <a:ext cx="4750000" cy="44805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91440" tIns="0" rIns="0" bIns="0" anchor="ctr" anchorCtr="0"/>
          <a:lstStyle/>
          <a:p>
            <a:pPr algn="l">
              <a:buNone/>
            </a:pPr>
            <a:r>
              <a:rPr lang="en-US" sz="2400">
                <a:solidFill>
                  <a:srgbClr val="595959"/>
                </a:solidFill>
                <a:latin typeface="Aptos"/>
              </a:rPr>
              <a:t>Agent's instructions update</a:t>
            </a:r>
          </a:p>
        </p:txBody>
      </p:sp>
      <p:sp>
        <p:nvSpPr>
          <p:cNvPr id="33" name="TxBox240">
            <a:extLst>
              <a:ext uri="{FF2B5EF4-FFF2-40B4-BE49-F238E27FC236}">
                <a16:creationId xmlns:a16="http://schemas.microsoft.com/office/drawing/2014/main" id="{7AE48F10-88CD-18CE-4ABF-E4C995B23842}"/>
              </a:ext>
            </a:extLst>
          </p:cNvPr>
          <p:cNvSpPr txBox="1"/>
          <p:nvPr/>
        </p:nvSpPr>
        <p:spPr>
          <a:xfrm>
            <a:off x="6453800" y="2198284"/>
            <a:ext cx="4900000" cy="3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spc="200">
                <a:solidFill>
                  <a:srgbClr val="FDAD00"/>
                </a:solidFill>
                <a:latin typeface="Aptos SemiBold"/>
              </a:rPr>
              <a:t>MANDATORY AC’s</a:t>
            </a:r>
          </a:p>
        </p:txBody>
      </p:sp>
      <p:sp>
        <p:nvSpPr>
          <p:cNvPr id="36" name="TxBox243">
            <a:extLst>
              <a:ext uri="{FF2B5EF4-FFF2-40B4-BE49-F238E27FC236}">
                <a16:creationId xmlns:a16="http://schemas.microsoft.com/office/drawing/2014/main" id="{F33CCE17-3C4A-95E3-3C70-60AE481F929F}"/>
              </a:ext>
            </a:extLst>
          </p:cNvPr>
          <p:cNvSpPr txBox="1"/>
          <p:nvPr/>
        </p:nvSpPr>
        <p:spPr>
          <a:xfrm>
            <a:off x="838200" y="4998284"/>
            <a:ext cx="10365600" cy="4643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i="1">
                <a:solidFill>
                  <a:srgbClr val="595959"/>
                </a:solidFill>
                <a:latin typeface="Aptos"/>
              </a:rPr>
              <a:t>Issues are also linked by dependency. Schema before write, write before read.</a:t>
            </a:r>
          </a:p>
        </p:txBody>
      </p:sp>
      <p:sp>
        <p:nvSpPr>
          <p:cNvPr id="37" name="Zástupný obsah 5">
            <a:extLst>
              <a:ext uri="{FF2B5EF4-FFF2-40B4-BE49-F238E27FC236}">
                <a16:creationId xmlns:a16="http://schemas.microsoft.com/office/drawing/2014/main" id="{49CB1840-941E-6FA3-197A-1BCAD87C1EEC}"/>
              </a:ext>
            </a:extLst>
          </p:cNvPr>
          <p:cNvSpPr txBox="1">
            <a:spLocks/>
          </p:cNvSpPr>
          <p:nvPr/>
        </p:nvSpPr>
        <p:spPr>
          <a:xfrm>
            <a:off x="878840" y="1447510"/>
            <a:ext cx="10515600" cy="486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  <a:latin typeface="Aptos SemiBold"/>
              </a:rPr>
              <a:t>Stage 03 · DECOMPOSE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698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2038-D655-FDD9-0907-30B88919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032D3AEB-857E-A25B-82F9-F7AE214DA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1F1F1F"/>
                </a:solidFill>
                <a:latin typeface="Aptos SemiBold"/>
              </a:rPr>
              <a:t>Commit often, trust more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392053D-C3DE-969F-C9BA-65F592139346}"/>
              </a:ext>
            </a:extLst>
          </p:cNvPr>
          <p:cNvSpPr txBox="1"/>
          <p:nvPr/>
        </p:nvSpPr>
        <p:spPr>
          <a:xfrm>
            <a:off x="838200" y="6137275"/>
            <a:ext cx="1051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i="1">
                <a:solidFill>
                  <a:srgbClr val="FDAD00"/>
                </a:solidFill>
                <a:latin typeface="Aptos"/>
              </a:rPr>
              <a:t>Principle: granularity of commits = granularity of trust.</a:t>
            </a:r>
          </a:p>
        </p:txBody>
      </p:sp>
      <p:sp>
        <p:nvSpPr>
          <p:cNvPr id="9" name="TxBox260">
            <a:extLst>
              <a:ext uri="{FF2B5EF4-FFF2-40B4-BE49-F238E27FC236}">
                <a16:creationId xmlns:a16="http://schemas.microsoft.com/office/drawing/2014/main" id="{1A2CDB53-8D6F-9629-1077-70D371D2B7E2}"/>
              </a:ext>
            </a:extLst>
          </p:cNvPr>
          <p:cNvSpPr txBox="1"/>
          <p:nvPr/>
        </p:nvSpPr>
        <p:spPr>
          <a:xfrm>
            <a:off x="838200" y="2161213"/>
            <a:ext cx="4900000" cy="3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spc="200">
                <a:solidFill>
                  <a:srgbClr val="FFC000"/>
                </a:solidFill>
                <a:latin typeface="Aptos SemiBold"/>
              </a:rPr>
              <a:t>THE WRONG WAY</a:t>
            </a:r>
          </a:p>
        </p:txBody>
      </p:sp>
      <p:sp>
        <p:nvSpPr>
          <p:cNvPr id="12" name="TxBox263">
            <a:extLst>
              <a:ext uri="{FF2B5EF4-FFF2-40B4-BE49-F238E27FC236}">
                <a16:creationId xmlns:a16="http://schemas.microsoft.com/office/drawing/2014/main" id="{0D857ADE-3CF2-3C4E-E950-0F7C8310CA8C}"/>
              </a:ext>
            </a:extLst>
          </p:cNvPr>
          <p:cNvSpPr txBox="1"/>
          <p:nvPr/>
        </p:nvSpPr>
        <p:spPr>
          <a:xfrm>
            <a:off x="838200" y="3785406"/>
            <a:ext cx="4900000" cy="125936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Unreviewable.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No audit trail of what AI did.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Trust binary: all or nothing.</a:t>
            </a:r>
          </a:p>
        </p:txBody>
      </p:sp>
      <p:sp>
        <p:nvSpPr>
          <p:cNvPr id="13" name="TxBox270">
            <a:extLst>
              <a:ext uri="{FF2B5EF4-FFF2-40B4-BE49-F238E27FC236}">
                <a16:creationId xmlns:a16="http://schemas.microsoft.com/office/drawing/2014/main" id="{52ED9330-4011-43A2-EC25-6C8711E50956}"/>
              </a:ext>
            </a:extLst>
          </p:cNvPr>
          <p:cNvSpPr txBox="1"/>
          <p:nvPr/>
        </p:nvSpPr>
        <p:spPr>
          <a:xfrm>
            <a:off x="6453800" y="2161213"/>
            <a:ext cx="4900000" cy="3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spc="200">
                <a:solidFill>
                  <a:srgbClr val="FFC000"/>
                </a:solidFill>
                <a:latin typeface="Aptos SemiBold"/>
              </a:rPr>
              <a:t>THE RIGHT WAY</a:t>
            </a:r>
          </a:p>
        </p:txBody>
      </p:sp>
      <p:sp>
        <p:nvSpPr>
          <p:cNvPr id="14" name="Rect271">
            <a:extLst>
              <a:ext uri="{FF2B5EF4-FFF2-40B4-BE49-F238E27FC236}">
                <a16:creationId xmlns:a16="http://schemas.microsoft.com/office/drawing/2014/main" id="{0FBF8619-B5FB-B38C-0971-B86C1C6C1072}"/>
              </a:ext>
            </a:extLst>
          </p:cNvPr>
          <p:cNvSpPr/>
          <p:nvPr/>
        </p:nvSpPr>
        <p:spPr>
          <a:xfrm>
            <a:off x="6453800" y="2661213"/>
            <a:ext cx="1371600" cy="4572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 wrap="square"/>
          <a:lstStyle/>
          <a:p>
            <a:r>
              <a:rPr lang="en-US" sz="2400" b="1">
                <a:solidFill>
                  <a:srgbClr val="1F1F1F"/>
                </a:solidFill>
              </a:rPr>
              <a:t>schema</a:t>
            </a:r>
            <a:endParaRPr lang="en-US" sz="2400"/>
          </a:p>
        </p:txBody>
      </p:sp>
      <p:sp>
        <p:nvSpPr>
          <p:cNvPr id="16" name="Rect273">
            <a:extLst>
              <a:ext uri="{FF2B5EF4-FFF2-40B4-BE49-F238E27FC236}">
                <a16:creationId xmlns:a16="http://schemas.microsoft.com/office/drawing/2014/main" id="{C4C245FF-E6E9-F36E-3068-AB53C8EBC54A}"/>
              </a:ext>
            </a:extLst>
          </p:cNvPr>
          <p:cNvSpPr/>
          <p:nvPr/>
        </p:nvSpPr>
        <p:spPr>
          <a:xfrm>
            <a:off x="8295174" y="2661213"/>
            <a:ext cx="1078401" cy="4572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 wrap="square"/>
          <a:lstStyle/>
          <a:p>
            <a:r>
              <a:rPr lang="en-US" sz="2400" b="1">
                <a:solidFill>
                  <a:srgbClr val="1F1F1F"/>
                </a:solidFill>
              </a:rPr>
              <a:t>trigger</a:t>
            </a:r>
            <a:endParaRPr lang="en-US" sz="2400"/>
          </a:p>
        </p:txBody>
      </p:sp>
      <p:sp>
        <p:nvSpPr>
          <p:cNvPr id="18" name="Rect275">
            <a:extLst>
              <a:ext uri="{FF2B5EF4-FFF2-40B4-BE49-F238E27FC236}">
                <a16:creationId xmlns:a16="http://schemas.microsoft.com/office/drawing/2014/main" id="{B6C7EE49-9785-57A7-D50F-4524E7F35D9B}"/>
              </a:ext>
            </a:extLst>
          </p:cNvPr>
          <p:cNvSpPr/>
          <p:nvPr/>
        </p:nvSpPr>
        <p:spPr>
          <a:xfrm>
            <a:off x="9917427" y="2660418"/>
            <a:ext cx="1078401" cy="4572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 wrap="square"/>
          <a:lstStyle/>
          <a:p>
            <a:r>
              <a:rPr lang="en-US" sz="2400" b="1">
                <a:solidFill>
                  <a:srgbClr val="1F1F1F"/>
                </a:solidFill>
              </a:rPr>
              <a:t>logger</a:t>
            </a:r>
            <a:endParaRPr lang="en-US" sz="2400"/>
          </a:p>
        </p:txBody>
      </p:sp>
      <p:sp>
        <p:nvSpPr>
          <p:cNvPr id="20" name="Rect277">
            <a:extLst>
              <a:ext uri="{FF2B5EF4-FFF2-40B4-BE49-F238E27FC236}">
                <a16:creationId xmlns:a16="http://schemas.microsoft.com/office/drawing/2014/main" id="{9A6C0659-20EC-1D36-DE5A-8395D081CC85}"/>
              </a:ext>
            </a:extLst>
          </p:cNvPr>
          <p:cNvSpPr/>
          <p:nvPr/>
        </p:nvSpPr>
        <p:spPr>
          <a:xfrm>
            <a:off x="10115786" y="3223187"/>
            <a:ext cx="681681" cy="4572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 wrap="square"/>
          <a:lstStyle/>
          <a:p>
            <a:r>
              <a:rPr lang="en-US" sz="2400" b="1">
                <a:solidFill>
                  <a:srgbClr val="1F1F1F"/>
                </a:solidFill>
              </a:rPr>
              <a:t>API</a:t>
            </a:r>
            <a:endParaRPr lang="en-US" sz="2400"/>
          </a:p>
        </p:txBody>
      </p:sp>
      <p:sp>
        <p:nvSpPr>
          <p:cNvPr id="22" name="Rect279">
            <a:extLst>
              <a:ext uri="{FF2B5EF4-FFF2-40B4-BE49-F238E27FC236}">
                <a16:creationId xmlns:a16="http://schemas.microsoft.com/office/drawing/2014/main" id="{42965FCB-A345-D87D-D22E-6B74345D6663}"/>
              </a:ext>
            </a:extLst>
          </p:cNvPr>
          <p:cNvSpPr/>
          <p:nvPr/>
        </p:nvSpPr>
        <p:spPr>
          <a:xfrm>
            <a:off x="9054216" y="3223187"/>
            <a:ext cx="681678" cy="4572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 wrap="square"/>
          <a:lstStyle/>
          <a:p>
            <a:r>
              <a:rPr lang="en-US" sz="2400" b="1">
                <a:solidFill>
                  <a:srgbClr val="1F1F1F"/>
                </a:solidFill>
              </a:rPr>
              <a:t>UI</a:t>
            </a:r>
            <a:endParaRPr lang="en-US" sz="2400"/>
          </a:p>
        </p:txBody>
      </p:sp>
      <p:sp>
        <p:nvSpPr>
          <p:cNvPr id="24" name="Rect281">
            <a:extLst>
              <a:ext uri="{FF2B5EF4-FFF2-40B4-BE49-F238E27FC236}">
                <a16:creationId xmlns:a16="http://schemas.microsoft.com/office/drawing/2014/main" id="{B91AC4CA-3DBB-1813-64BE-1F858AA65AB3}"/>
              </a:ext>
            </a:extLst>
          </p:cNvPr>
          <p:cNvSpPr/>
          <p:nvPr/>
        </p:nvSpPr>
        <p:spPr>
          <a:xfrm>
            <a:off x="7763500" y="3227102"/>
            <a:ext cx="910825" cy="4572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 wrap="square"/>
          <a:lstStyle/>
          <a:p>
            <a:r>
              <a:rPr lang="en-US" sz="2400" b="1">
                <a:solidFill>
                  <a:srgbClr val="1F1F1F"/>
                </a:solidFill>
              </a:rPr>
              <a:t>tests</a:t>
            </a:r>
          </a:p>
          <a:p>
            <a:endParaRPr lang="en-US" sz="2400"/>
          </a:p>
        </p:txBody>
      </p:sp>
      <p:sp>
        <p:nvSpPr>
          <p:cNvPr id="26" name="Rect283">
            <a:extLst>
              <a:ext uri="{FF2B5EF4-FFF2-40B4-BE49-F238E27FC236}">
                <a16:creationId xmlns:a16="http://schemas.microsoft.com/office/drawing/2014/main" id="{61ED1E33-6C76-0DDA-D893-7DA831559660}"/>
              </a:ext>
            </a:extLst>
          </p:cNvPr>
          <p:cNvSpPr/>
          <p:nvPr/>
        </p:nvSpPr>
        <p:spPr>
          <a:xfrm>
            <a:off x="6453800" y="3227102"/>
            <a:ext cx="910825" cy="4572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 wrap="square"/>
          <a:lstStyle/>
          <a:p>
            <a:r>
              <a:rPr lang="en-US" sz="2400" b="1">
                <a:solidFill>
                  <a:srgbClr val="1F1F1F"/>
                </a:solidFill>
              </a:rPr>
              <a:t>docs</a:t>
            </a:r>
            <a:endParaRPr lang="en-US" sz="2400"/>
          </a:p>
        </p:txBody>
      </p:sp>
      <p:sp>
        <p:nvSpPr>
          <p:cNvPr id="28" name="TxBox290">
            <a:extLst>
              <a:ext uri="{FF2B5EF4-FFF2-40B4-BE49-F238E27FC236}">
                <a16:creationId xmlns:a16="http://schemas.microsoft.com/office/drawing/2014/main" id="{46B88593-BDA4-7949-49EA-A9E578D9431A}"/>
              </a:ext>
            </a:extLst>
          </p:cNvPr>
          <p:cNvSpPr txBox="1"/>
          <p:nvPr/>
        </p:nvSpPr>
        <p:spPr>
          <a:xfrm>
            <a:off x="6453800" y="3789320"/>
            <a:ext cx="4542028" cy="12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Each commit can be reviewed, bisected and reverted.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Trust is granular.</a:t>
            </a:r>
          </a:p>
        </p:txBody>
      </p:sp>
      <p:sp>
        <p:nvSpPr>
          <p:cNvPr id="29" name="Rect261">
            <a:extLst>
              <a:ext uri="{FF2B5EF4-FFF2-40B4-BE49-F238E27FC236}">
                <a16:creationId xmlns:a16="http://schemas.microsoft.com/office/drawing/2014/main" id="{6AF0E30B-E02C-C648-46DC-56DAE8CE98FA}"/>
              </a:ext>
            </a:extLst>
          </p:cNvPr>
          <p:cNvSpPr/>
          <p:nvPr/>
        </p:nvSpPr>
        <p:spPr>
          <a:xfrm>
            <a:off x="838200" y="2664133"/>
            <a:ext cx="4900000" cy="861785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 wrap="square"/>
          <a:lstStyle/>
          <a:p>
            <a:pPr algn="ctr">
              <a:buNone/>
            </a:pPr>
            <a:r>
              <a:rPr lang="en-US" sz="2400" b="1">
                <a:solidFill>
                  <a:srgbClr val="1F1F1F"/>
                </a:solidFill>
                <a:latin typeface="Aptos SemiBold"/>
              </a:rPr>
              <a:t>One 2,000-line commit: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400" b="1">
                <a:solidFill>
                  <a:srgbClr val="1F1F1F"/>
                </a:solidFill>
                <a:latin typeface="Aptos SemiBold"/>
              </a:rPr>
              <a:t>“add audit logs”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B76C8A3-86B8-B1E2-3D3B-C382059BA86F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7825400" y="2889813"/>
            <a:ext cx="469774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55FC6E1-0416-D847-08D9-174F88414B7D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 flipV="1">
            <a:off x="9373575" y="2889018"/>
            <a:ext cx="543852" cy="79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29553B4-BAF2-FC15-86E3-59B298E7BE55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 flipH="1">
            <a:off x="10456627" y="3117618"/>
            <a:ext cx="1" cy="10556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66331D9-14BB-1C4C-AF99-A60B9880FADD}"/>
              </a:ext>
            </a:extLst>
          </p:cNvPr>
          <p:cNvCxnSpPr>
            <a:cxnSpLocks/>
            <a:stCxn id="20" idx="1"/>
            <a:endCxn id="22" idx="3"/>
          </p:cNvCxnSpPr>
          <p:nvPr/>
        </p:nvCxnSpPr>
        <p:spPr>
          <a:xfrm flipH="1">
            <a:off x="9735894" y="3451787"/>
            <a:ext cx="37989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3D67017-1DCF-A474-9239-1EC47DFC5D0B}"/>
              </a:ext>
            </a:extLst>
          </p:cNvPr>
          <p:cNvCxnSpPr>
            <a:cxnSpLocks/>
            <a:stCxn id="22" idx="1"/>
            <a:endCxn id="24" idx="3"/>
          </p:cNvCxnSpPr>
          <p:nvPr/>
        </p:nvCxnSpPr>
        <p:spPr>
          <a:xfrm flipH="1">
            <a:off x="8674325" y="3451787"/>
            <a:ext cx="379891" cy="391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6D15908-CDCF-40FA-6FC3-76504EF3C94A}"/>
              </a:ext>
            </a:extLst>
          </p:cNvPr>
          <p:cNvCxnSpPr>
            <a:cxnSpLocks/>
            <a:stCxn id="24" idx="1"/>
            <a:endCxn id="26" idx="3"/>
          </p:cNvCxnSpPr>
          <p:nvPr/>
        </p:nvCxnSpPr>
        <p:spPr>
          <a:xfrm flipH="1">
            <a:off x="7364625" y="3455702"/>
            <a:ext cx="39887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1" name="Zástupný obsah 5">
            <a:extLst>
              <a:ext uri="{FF2B5EF4-FFF2-40B4-BE49-F238E27FC236}">
                <a16:creationId xmlns:a16="http://schemas.microsoft.com/office/drawing/2014/main" id="{FBC5E2E7-0C66-BBE4-FACB-D715990EDA6C}"/>
              </a:ext>
            </a:extLst>
          </p:cNvPr>
          <p:cNvSpPr txBox="1">
            <a:spLocks/>
          </p:cNvSpPr>
          <p:nvPr/>
        </p:nvSpPr>
        <p:spPr>
          <a:xfrm>
            <a:off x="878840" y="1447510"/>
            <a:ext cx="10515600" cy="486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  <a:latin typeface="Aptos SemiBold"/>
              </a:rPr>
              <a:t>Stage 04 · BUILD</a:t>
            </a:r>
          </a:p>
        </p:txBody>
      </p:sp>
    </p:spTree>
    <p:extLst>
      <p:ext uri="{BB962C8B-B14F-4D97-AF65-F5344CB8AC3E}">
        <p14:creationId xmlns:p14="http://schemas.microsoft.com/office/powerpoint/2010/main" val="2421240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19911-22FE-3F2F-1662-C104AF5AD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2B074F52-AD03-4494-BDA1-6CA659E63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1F1F1F"/>
                </a:solidFill>
                <a:latin typeface="Aptos SemiBold"/>
              </a:rPr>
              <a:t>Beyond automated tests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8A3EB89E-FC73-76B0-706B-6F94271C201C}"/>
              </a:ext>
            </a:extLst>
          </p:cNvPr>
          <p:cNvSpPr txBox="1"/>
          <p:nvPr/>
        </p:nvSpPr>
        <p:spPr>
          <a:xfrm>
            <a:off x="838200" y="6137275"/>
            <a:ext cx="1051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i="1">
                <a:solidFill>
                  <a:srgbClr val="FDAD00"/>
                </a:solidFill>
                <a:latin typeface="Aptos"/>
              </a:rPr>
              <a:t>Principle: AI can write the tests. It cannot validate the intent.</a:t>
            </a:r>
          </a:p>
        </p:txBody>
      </p:sp>
      <p:sp>
        <p:nvSpPr>
          <p:cNvPr id="9" name="TxBox260">
            <a:extLst>
              <a:ext uri="{FF2B5EF4-FFF2-40B4-BE49-F238E27FC236}">
                <a16:creationId xmlns:a16="http://schemas.microsoft.com/office/drawing/2014/main" id="{16F38F18-4C09-1D6A-93EF-1C15CF24C8DA}"/>
              </a:ext>
            </a:extLst>
          </p:cNvPr>
          <p:cNvSpPr txBox="1"/>
          <p:nvPr/>
        </p:nvSpPr>
        <p:spPr>
          <a:xfrm>
            <a:off x="838200" y="2161213"/>
            <a:ext cx="4900000" cy="3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spc="200">
                <a:solidFill>
                  <a:srgbClr val="FFC000"/>
                </a:solidFill>
                <a:latin typeface="Aptos SemiBold"/>
              </a:rPr>
              <a:t>AI-WRITTEN TESTS</a:t>
            </a:r>
          </a:p>
          <a:p>
            <a:pPr algn="l">
              <a:buNone/>
            </a:pPr>
            <a:endParaRPr lang="en-US" sz="2400" b="1" spc="200">
              <a:solidFill>
                <a:srgbClr val="FFC000"/>
              </a:solidFill>
              <a:latin typeface="Aptos SemiBold"/>
            </a:endParaRPr>
          </a:p>
        </p:txBody>
      </p:sp>
      <p:sp>
        <p:nvSpPr>
          <p:cNvPr id="13" name="TxBox270">
            <a:extLst>
              <a:ext uri="{FF2B5EF4-FFF2-40B4-BE49-F238E27FC236}">
                <a16:creationId xmlns:a16="http://schemas.microsoft.com/office/drawing/2014/main" id="{936098A8-7B1D-D071-39B1-125F7E497A38}"/>
              </a:ext>
            </a:extLst>
          </p:cNvPr>
          <p:cNvSpPr txBox="1"/>
          <p:nvPr/>
        </p:nvSpPr>
        <p:spPr>
          <a:xfrm>
            <a:off x="6453800" y="2161213"/>
            <a:ext cx="4900000" cy="3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spc="200">
                <a:solidFill>
                  <a:srgbClr val="FFC000"/>
                </a:solidFill>
                <a:latin typeface="Aptos SemiBold"/>
              </a:rPr>
              <a:t>AI-WRITTEN TESTS</a:t>
            </a:r>
          </a:p>
          <a:p>
            <a:pPr algn="l">
              <a:buNone/>
            </a:pPr>
            <a:endParaRPr lang="en-US" sz="2400" b="1" spc="200">
              <a:solidFill>
                <a:srgbClr val="FFC000"/>
              </a:solidFill>
              <a:latin typeface="Aptos SemiBold"/>
            </a:endParaRPr>
          </a:p>
        </p:txBody>
      </p:sp>
      <p:sp>
        <p:nvSpPr>
          <p:cNvPr id="121" name="Zástupný obsah 5">
            <a:extLst>
              <a:ext uri="{FF2B5EF4-FFF2-40B4-BE49-F238E27FC236}">
                <a16:creationId xmlns:a16="http://schemas.microsoft.com/office/drawing/2014/main" id="{01F0A3DF-3E30-6D97-0849-8E938F54D29E}"/>
              </a:ext>
            </a:extLst>
          </p:cNvPr>
          <p:cNvSpPr txBox="1">
            <a:spLocks/>
          </p:cNvSpPr>
          <p:nvPr/>
        </p:nvSpPr>
        <p:spPr>
          <a:xfrm>
            <a:off x="878840" y="1447510"/>
            <a:ext cx="10515600" cy="486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  <a:latin typeface="Aptos SemiBold"/>
              </a:rPr>
              <a:t>Stage 05 · VERIFY</a:t>
            </a:r>
          </a:p>
        </p:txBody>
      </p:sp>
      <p:sp>
        <p:nvSpPr>
          <p:cNvPr id="3" name="TxBox301">
            <a:extLst>
              <a:ext uri="{FF2B5EF4-FFF2-40B4-BE49-F238E27FC236}">
                <a16:creationId xmlns:a16="http://schemas.microsoft.com/office/drawing/2014/main" id="{42E42347-FCD2-33B5-8B0E-F48F8FAB7368}"/>
              </a:ext>
            </a:extLst>
          </p:cNvPr>
          <p:cNvSpPr txBox="1"/>
          <p:nvPr/>
        </p:nvSpPr>
        <p:spPr>
          <a:xfrm>
            <a:off x="838200" y="2760068"/>
            <a:ext cx="4900000" cy="2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•  Catch regressions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•  Lock in expected behavior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•  Necessary, but not sufficient</a:t>
            </a:r>
          </a:p>
        </p:txBody>
      </p:sp>
      <p:sp>
        <p:nvSpPr>
          <p:cNvPr id="5" name="TxBox311">
            <a:extLst>
              <a:ext uri="{FF2B5EF4-FFF2-40B4-BE49-F238E27FC236}">
                <a16:creationId xmlns:a16="http://schemas.microsoft.com/office/drawing/2014/main" id="{2E8B4F63-A45A-0E09-961E-273F10D12022}"/>
              </a:ext>
            </a:extLst>
          </p:cNvPr>
          <p:cNvSpPr txBox="1"/>
          <p:nvPr/>
        </p:nvSpPr>
        <p:spPr>
          <a:xfrm>
            <a:off x="6453800" y="2760068"/>
            <a:ext cx="4900000" cy="2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•  UX that AI didn’t imagine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•  Edge cases AI wouldn’t think to test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•  Integration reality: Does it actually work in your stack?</a:t>
            </a:r>
          </a:p>
        </p:txBody>
      </p:sp>
    </p:spTree>
    <p:extLst>
      <p:ext uri="{BB962C8B-B14F-4D97-AF65-F5344CB8AC3E}">
        <p14:creationId xmlns:p14="http://schemas.microsoft.com/office/powerpoint/2010/main" val="3090971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37CF4-4FA0-7A62-E5AB-C3DA9A8D6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13F79380-6B20-5588-F5A0-6BB3FEC11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1F1F1F"/>
                </a:solidFill>
                <a:latin typeface="Aptos SemiBold"/>
              </a:rPr>
              <a:t>Layered review by design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7951FF9E-E514-3BC5-4E0E-6A1E594E19BD}"/>
              </a:ext>
            </a:extLst>
          </p:cNvPr>
          <p:cNvSpPr txBox="1"/>
          <p:nvPr/>
        </p:nvSpPr>
        <p:spPr>
          <a:xfrm>
            <a:off x="838200" y="6137275"/>
            <a:ext cx="1051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i="1">
                <a:solidFill>
                  <a:srgbClr val="FDAD00"/>
                </a:solidFill>
                <a:latin typeface="Aptos"/>
              </a:rPr>
              <a:t>Principle: AI is overconfident. Layer the review.</a:t>
            </a:r>
          </a:p>
        </p:txBody>
      </p:sp>
      <p:sp>
        <p:nvSpPr>
          <p:cNvPr id="121" name="Zástupný obsah 5">
            <a:extLst>
              <a:ext uri="{FF2B5EF4-FFF2-40B4-BE49-F238E27FC236}">
                <a16:creationId xmlns:a16="http://schemas.microsoft.com/office/drawing/2014/main" id="{24779503-7A24-186F-9627-45B259F7EF48}"/>
              </a:ext>
            </a:extLst>
          </p:cNvPr>
          <p:cNvSpPr txBox="1">
            <a:spLocks/>
          </p:cNvSpPr>
          <p:nvPr/>
        </p:nvSpPr>
        <p:spPr>
          <a:xfrm>
            <a:off x="878840" y="1447510"/>
            <a:ext cx="10515600" cy="486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  <a:latin typeface="Aptos SemiBold"/>
              </a:rPr>
              <a:t>Stage 06 · REVIEW</a:t>
            </a:r>
          </a:p>
        </p:txBody>
      </p:sp>
      <p:sp>
        <p:nvSpPr>
          <p:cNvPr id="7" name="Rect321">
            <a:extLst>
              <a:ext uri="{FF2B5EF4-FFF2-40B4-BE49-F238E27FC236}">
                <a16:creationId xmlns:a16="http://schemas.microsoft.com/office/drawing/2014/main" id="{9328F536-6850-C369-69F9-55C93005F1B1}"/>
              </a:ext>
            </a:extLst>
          </p:cNvPr>
          <p:cNvSpPr/>
          <p:nvPr/>
        </p:nvSpPr>
        <p:spPr>
          <a:xfrm>
            <a:off x="961000" y="2100000"/>
            <a:ext cx="1950000" cy="91440"/>
          </a:xfrm>
          <a:prstGeom prst="rect">
            <a:avLst/>
          </a:prstGeom>
          <a:solidFill>
            <a:srgbClr val="FDAD00"/>
          </a:solidFill>
          <a:ln>
            <a:noFill/>
          </a:ln>
        </p:spPr>
        <p:txBody>
          <a:bodyPr wrap="square"/>
          <a:lstStyle/>
          <a:p>
            <a:endParaRPr lang="en-US" sz="2400"/>
          </a:p>
        </p:txBody>
      </p:sp>
      <p:sp>
        <p:nvSpPr>
          <p:cNvPr id="8" name="TxBox322">
            <a:extLst>
              <a:ext uri="{FF2B5EF4-FFF2-40B4-BE49-F238E27FC236}">
                <a16:creationId xmlns:a16="http://schemas.microsoft.com/office/drawing/2014/main" id="{8A8724C0-F559-CBA8-7CFA-F64116E816C8}"/>
              </a:ext>
            </a:extLst>
          </p:cNvPr>
          <p:cNvSpPr txBox="1"/>
          <p:nvPr/>
        </p:nvSpPr>
        <p:spPr>
          <a:xfrm>
            <a:off x="961000" y="2191440"/>
            <a:ext cx="1950000" cy="182710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80000" tIns="80000" rIns="80000" bIns="80000" anchor="t"/>
          <a:lstStyle/>
          <a:p>
            <a:pPr algn="ctr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1F1F1F"/>
                </a:solidFill>
              </a:rPr>
              <a:t>PR opened</a:t>
            </a:r>
          </a:p>
          <a:p>
            <a:pPr algn="ctr">
              <a:spcBef>
                <a:spcPts val="200"/>
              </a:spcBef>
              <a:buNone/>
            </a:pPr>
            <a:endParaRPr lang="en-US" sz="2800" b="1" dirty="0">
              <a:solidFill>
                <a:srgbClr val="1F1F1F"/>
              </a:solidFill>
            </a:endParaRPr>
          </a:p>
          <a:p>
            <a:pPr algn="ctr">
              <a:spcBef>
                <a:spcPts val="250"/>
              </a:spcBef>
              <a:buNone/>
            </a:pPr>
            <a:r>
              <a:rPr lang="en-US" sz="2400" dirty="0">
                <a:solidFill>
                  <a:srgbClr val="595959"/>
                </a:solidFill>
              </a:rPr>
              <a:t>AI links all issues</a:t>
            </a:r>
          </a:p>
        </p:txBody>
      </p:sp>
      <p:sp>
        <p:nvSpPr>
          <p:cNvPr id="11" name="Rect324">
            <a:extLst>
              <a:ext uri="{FF2B5EF4-FFF2-40B4-BE49-F238E27FC236}">
                <a16:creationId xmlns:a16="http://schemas.microsoft.com/office/drawing/2014/main" id="{7EECA8D8-3A31-D610-6F8B-B5E2D946D051}"/>
              </a:ext>
            </a:extLst>
          </p:cNvPr>
          <p:cNvSpPr/>
          <p:nvPr/>
        </p:nvSpPr>
        <p:spPr>
          <a:xfrm>
            <a:off x="3041000" y="2100000"/>
            <a:ext cx="1950000" cy="91440"/>
          </a:xfrm>
          <a:prstGeom prst="rect">
            <a:avLst/>
          </a:prstGeom>
          <a:solidFill>
            <a:srgbClr val="FDAD00"/>
          </a:solidFill>
          <a:ln>
            <a:noFill/>
          </a:ln>
        </p:spPr>
        <p:txBody>
          <a:bodyPr wrap="square"/>
          <a:lstStyle/>
          <a:p>
            <a:endParaRPr lang="en-US" sz="2400"/>
          </a:p>
        </p:txBody>
      </p:sp>
      <p:sp>
        <p:nvSpPr>
          <p:cNvPr id="12" name="TxBox325">
            <a:extLst>
              <a:ext uri="{FF2B5EF4-FFF2-40B4-BE49-F238E27FC236}">
                <a16:creationId xmlns:a16="http://schemas.microsoft.com/office/drawing/2014/main" id="{5248232D-8B95-5827-001F-E7691518731B}"/>
              </a:ext>
            </a:extLst>
          </p:cNvPr>
          <p:cNvSpPr txBox="1"/>
          <p:nvPr/>
        </p:nvSpPr>
        <p:spPr>
          <a:xfrm>
            <a:off x="3041000" y="2191440"/>
            <a:ext cx="1950000" cy="18288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80000" tIns="80000" rIns="80000" bIns="80000" anchor="t"/>
          <a:lstStyle/>
          <a:p>
            <a:pPr algn="ctr">
              <a:buNone/>
            </a:pPr>
            <a:r>
              <a:rPr lang="en-US" sz="2800" b="1" dirty="0">
                <a:solidFill>
                  <a:srgbClr val="1F1F1F"/>
                </a:solidFill>
              </a:rPr>
              <a:t>Agent review</a:t>
            </a:r>
          </a:p>
          <a:p>
            <a:pPr algn="ctr">
              <a:spcBef>
                <a:spcPts val="250"/>
              </a:spcBef>
              <a:buNone/>
            </a:pPr>
            <a:r>
              <a:rPr lang="en-US" sz="2400" dirty="0">
                <a:solidFill>
                  <a:srgbClr val="595959"/>
                </a:solidFill>
              </a:rPr>
              <a:t>Catches the obvious</a:t>
            </a:r>
          </a:p>
        </p:txBody>
      </p:sp>
      <p:sp>
        <p:nvSpPr>
          <p:cNvPr id="15" name="Rect327">
            <a:extLst>
              <a:ext uri="{FF2B5EF4-FFF2-40B4-BE49-F238E27FC236}">
                <a16:creationId xmlns:a16="http://schemas.microsoft.com/office/drawing/2014/main" id="{E0B117CF-E4A5-7ACE-31CB-5A86C21A9BD3}"/>
              </a:ext>
            </a:extLst>
          </p:cNvPr>
          <p:cNvSpPr/>
          <p:nvPr/>
        </p:nvSpPr>
        <p:spPr>
          <a:xfrm>
            <a:off x="5121000" y="2100000"/>
            <a:ext cx="1950000" cy="91440"/>
          </a:xfrm>
          <a:prstGeom prst="rect">
            <a:avLst/>
          </a:prstGeom>
          <a:solidFill>
            <a:srgbClr val="FDAD00"/>
          </a:solidFill>
          <a:ln>
            <a:noFill/>
          </a:ln>
        </p:spPr>
        <p:txBody>
          <a:bodyPr wrap="square"/>
          <a:lstStyle/>
          <a:p>
            <a:endParaRPr lang="en-US" sz="2400"/>
          </a:p>
        </p:txBody>
      </p:sp>
      <p:sp>
        <p:nvSpPr>
          <p:cNvPr id="16" name="TxBox328">
            <a:extLst>
              <a:ext uri="{FF2B5EF4-FFF2-40B4-BE49-F238E27FC236}">
                <a16:creationId xmlns:a16="http://schemas.microsoft.com/office/drawing/2014/main" id="{13B7A165-4D5C-7522-5211-192A75FBCEA1}"/>
              </a:ext>
            </a:extLst>
          </p:cNvPr>
          <p:cNvSpPr txBox="1"/>
          <p:nvPr/>
        </p:nvSpPr>
        <p:spPr>
          <a:xfrm>
            <a:off x="5111907" y="2191440"/>
            <a:ext cx="1950000" cy="18288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80000" tIns="80000" rIns="80000" bIns="80000" anchor="t"/>
          <a:lstStyle/>
          <a:p>
            <a:pPr algn="ctr">
              <a:buNone/>
            </a:pPr>
            <a:r>
              <a:rPr lang="en-US" sz="2800" b="1" dirty="0">
                <a:solidFill>
                  <a:srgbClr val="1F1F1F"/>
                </a:solidFill>
              </a:rPr>
              <a:t>Fixes</a:t>
            </a:r>
          </a:p>
          <a:p>
            <a:pPr algn="ctr">
              <a:spcBef>
                <a:spcPts val="200"/>
              </a:spcBef>
              <a:buNone/>
            </a:pPr>
            <a:endParaRPr lang="en-US" sz="2800" b="1" dirty="0">
              <a:solidFill>
                <a:srgbClr val="1F1F1F"/>
              </a:solidFill>
            </a:endParaRPr>
          </a:p>
          <a:p>
            <a:pPr algn="ctr">
              <a:spcBef>
                <a:spcPts val="250"/>
              </a:spcBef>
              <a:buNone/>
            </a:pPr>
            <a:r>
              <a:rPr lang="en-US" sz="2400" dirty="0">
                <a:solidFill>
                  <a:srgbClr val="595959"/>
                </a:solidFill>
              </a:rPr>
              <a:t>You or an agent</a:t>
            </a:r>
          </a:p>
        </p:txBody>
      </p:sp>
      <p:sp>
        <p:nvSpPr>
          <p:cNvPr id="18" name="Rect330">
            <a:extLst>
              <a:ext uri="{FF2B5EF4-FFF2-40B4-BE49-F238E27FC236}">
                <a16:creationId xmlns:a16="http://schemas.microsoft.com/office/drawing/2014/main" id="{D9911956-4FF3-D876-7DFA-FD1F1E7E8CC0}"/>
              </a:ext>
            </a:extLst>
          </p:cNvPr>
          <p:cNvSpPr/>
          <p:nvPr/>
        </p:nvSpPr>
        <p:spPr>
          <a:xfrm>
            <a:off x="7201000" y="2100000"/>
            <a:ext cx="1950000" cy="91440"/>
          </a:xfrm>
          <a:prstGeom prst="rect">
            <a:avLst/>
          </a:prstGeom>
          <a:solidFill>
            <a:srgbClr val="FDAD00"/>
          </a:solidFill>
          <a:ln>
            <a:noFill/>
          </a:ln>
        </p:spPr>
        <p:txBody>
          <a:bodyPr wrap="square"/>
          <a:lstStyle/>
          <a:p>
            <a:endParaRPr lang="en-US" sz="2400"/>
          </a:p>
        </p:txBody>
      </p:sp>
      <p:sp>
        <p:nvSpPr>
          <p:cNvPr id="19" name="TxBox331">
            <a:extLst>
              <a:ext uri="{FF2B5EF4-FFF2-40B4-BE49-F238E27FC236}">
                <a16:creationId xmlns:a16="http://schemas.microsoft.com/office/drawing/2014/main" id="{4F41FA8E-9A1E-AD93-8D75-D45F2D38FC3B}"/>
              </a:ext>
            </a:extLst>
          </p:cNvPr>
          <p:cNvSpPr txBox="1"/>
          <p:nvPr/>
        </p:nvSpPr>
        <p:spPr>
          <a:xfrm>
            <a:off x="7191907" y="2191440"/>
            <a:ext cx="1950000" cy="18288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80000" tIns="80000" rIns="80000" bIns="80000" anchor="t"/>
          <a:lstStyle/>
          <a:p>
            <a:pPr algn="ctr">
              <a:buNone/>
            </a:pPr>
            <a:r>
              <a:rPr lang="en-US" sz="2800" b="1" dirty="0">
                <a:solidFill>
                  <a:srgbClr val="1F1F1F"/>
                </a:solidFill>
              </a:rPr>
              <a:t>Human review</a:t>
            </a:r>
          </a:p>
          <a:p>
            <a:pPr algn="ctr">
              <a:spcBef>
                <a:spcPts val="250"/>
              </a:spcBef>
              <a:buNone/>
            </a:pPr>
            <a:r>
              <a:rPr lang="en-US" sz="2400" dirty="0">
                <a:solidFill>
                  <a:srgbClr val="595959"/>
                </a:solidFill>
              </a:rPr>
              <a:t>Catches the contextual</a:t>
            </a:r>
          </a:p>
        </p:txBody>
      </p:sp>
      <p:sp>
        <p:nvSpPr>
          <p:cNvPr id="21" name="Rect333">
            <a:extLst>
              <a:ext uri="{FF2B5EF4-FFF2-40B4-BE49-F238E27FC236}">
                <a16:creationId xmlns:a16="http://schemas.microsoft.com/office/drawing/2014/main" id="{90E1BDF6-8FEA-CDF5-83F5-4605B7F264C8}"/>
              </a:ext>
            </a:extLst>
          </p:cNvPr>
          <p:cNvSpPr/>
          <p:nvPr/>
        </p:nvSpPr>
        <p:spPr>
          <a:xfrm>
            <a:off x="9281000" y="2100000"/>
            <a:ext cx="1950000" cy="91440"/>
          </a:xfrm>
          <a:prstGeom prst="rect">
            <a:avLst/>
          </a:prstGeom>
          <a:solidFill>
            <a:srgbClr val="FDAD00"/>
          </a:solidFill>
          <a:ln>
            <a:noFill/>
          </a:ln>
        </p:spPr>
        <p:txBody>
          <a:bodyPr wrap="square"/>
          <a:lstStyle/>
          <a:p>
            <a:endParaRPr lang="en-US" sz="2400"/>
          </a:p>
        </p:txBody>
      </p:sp>
      <p:sp>
        <p:nvSpPr>
          <p:cNvPr id="22" name="TxBox334">
            <a:extLst>
              <a:ext uri="{FF2B5EF4-FFF2-40B4-BE49-F238E27FC236}">
                <a16:creationId xmlns:a16="http://schemas.microsoft.com/office/drawing/2014/main" id="{05A86F84-9736-7ACC-CC24-3058EF0D9386}"/>
              </a:ext>
            </a:extLst>
          </p:cNvPr>
          <p:cNvSpPr txBox="1"/>
          <p:nvPr/>
        </p:nvSpPr>
        <p:spPr>
          <a:xfrm>
            <a:off x="9281000" y="2191440"/>
            <a:ext cx="1950000" cy="18288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80000" tIns="80000" rIns="80000" bIns="80000" anchor="t"/>
          <a:lstStyle/>
          <a:p>
            <a:pPr algn="ctr">
              <a:buNone/>
            </a:pPr>
            <a:r>
              <a:rPr lang="en-US" sz="2800" b="1" dirty="0">
                <a:solidFill>
                  <a:srgbClr val="1F1F1F"/>
                </a:solidFill>
              </a:rPr>
              <a:t>QA in test env</a:t>
            </a:r>
          </a:p>
          <a:p>
            <a:pPr algn="ctr">
              <a:spcBef>
                <a:spcPts val="250"/>
              </a:spcBef>
              <a:buNone/>
            </a:pPr>
            <a:r>
              <a:rPr lang="en-US" sz="2400" dirty="0">
                <a:solidFill>
                  <a:srgbClr val="595959"/>
                </a:solidFill>
              </a:rPr>
              <a:t>Catches the systemic</a:t>
            </a:r>
          </a:p>
        </p:txBody>
      </p:sp>
      <p:sp>
        <p:nvSpPr>
          <p:cNvPr id="23" name="ReviewExplain">
            <a:extLst>
              <a:ext uri="{FF2B5EF4-FFF2-40B4-BE49-F238E27FC236}">
                <a16:creationId xmlns:a16="http://schemas.microsoft.com/office/drawing/2014/main" id="{84B2C54F-04DE-82D1-6293-2780CBBEBF4B}"/>
              </a:ext>
            </a:extLst>
          </p:cNvPr>
          <p:cNvSpPr txBox="1"/>
          <p:nvPr/>
        </p:nvSpPr>
        <p:spPr>
          <a:xfrm>
            <a:off x="838200" y="4408987"/>
            <a:ext cx="10515600" cy="12275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1">
                <a:solidFill>
                  <a:srgbClr val="1F1F1F"/>
                </a:solidFill>
              </a:rPr>
              <a:t>Agent review — </a:t>
            </a:r>
            <a:r>
              <a:rPr lang="en-US" sz="2400">
                <a:solidFill>
                  <a:srgbClr val="595959"/>
                </a:solidFill>
              </a:rPr>
              <a:t>syntax, style, missing tests, obvious bugs</a:t>
            </a:r>
          </a:p>
          <a:p>
            <a:pPr algn="ctr">
              <a:spcBef>
                <a:spcPts val="250"/>
              </a:spcBef>
              <a:buNone/>
            </a:pPr>
            <a:r>
              <a:rPr lang="en-US" sz="2400" b="1">
                <a:solidFill>
                  <a:srgbClr val="1F1F1F"/>
                </a:solidFill>
              </a:rPr>
              <a:t>Human review — </a:t>
            </a:r>
            <a:r>
              <a:rPr lang="en-US" sz="2400">
                <a:solidFill>
                  <a:srgbClr val="595959"/>
                </a:solidFill>
              </a:rPr>
              <a:t>fit with the codebase, architecture, judgement calls</a:t>
            </a:r>
          </a:p>
          <a:p>
            <a:pPr algn="ctr">
              <a:spcBef>
                <a:spcPts val="250"/>
              </a:spcBef>
              <a:buNone/>
            </a:pPr>
            <a:r>
              <a:rPr lang="en-US" sz="2400" b="1">
                <a:solidFill>
                  <a:srgbClr val="1F1F1F"/>
                </a:solidFill>
              </a:rPr>
              <a:t>QA in test env — </a:t>
            </a:r>
            <a:r>
              <a:rPr lang="en-US" sz="2400">
                <a:solidFill>
                  <a:srgbClr val="595959"/>
                </a:solidFill>
              </a:rPr>
              <a:t>real data, real environment, real users</a:t>
            </a:r>
          </a:p>
        </p:txBody>
      </p:sp>
    </p:spTree>
    <p:extLst>
      <p:ext uri="{BB962C8B-B14F-4D97-AF65-F5344CB8AC3E}">
        <p14:creationId xmlns:p14="http://schemas.microsoft.com/office/powerpoint/2010/main" val="2852007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D0DB-BC37-763C-2004-8D4BC30D8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0D2E72C9-037F-EA9E-833F-734796D51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1F1F1F"/>
                </a:solidFill>
                <a:latin typeface="Aptos SemiBold"/>
              </a:rPr>
              <a:t>Merge, ship, and close the loop</a:t>
            </a:r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57D4DF52-AFC5-0DDC-2643-E2075ACF677F}"/>
              </a:ext>
            </a:extLst>
          </p:cNvPr>
          <p:cNvSpPr txBox="1"/>
          <p:nvPr/>
        </p:nvSpPr>
        <p:spPr>
          <a:xfrm>
            <a:off x="838200" y="6137275"/>
            <a:ext cx="1051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i="1">
                <a:solidFill>
                  <a:srgbClr val="FDAD00"/>
                </a:solidFill>
                <a:latin typeface="Aptos"/>
              </a:rPr>
              <a:t>Shipping isn’t just merging. It’s closing the loop, so the next feature starts smarter.</a:t>
            </a:r>
          </a:p>
        </p:txBody>
      </p:sp>
      <p:sp>
        <p:nvSpPr>
          <p:cNvPr id="25" name="Rect190">
            <a:extLst>
              <a:ext uri="{FF2B5EF4-FFF2-40B4-BE49-F238E27FC236}">
                <a16:creationId xmlns:a16="http://schemas.microsoft.com/office/drawing/2014/main" id="{144E6659-430D-4E3A-E616-AB464B161180}"/>
              </a:ext>
            </a:extLst>
          </p:cNvPr>
          <p:cNvSpPr/>
          <p:nvPr/>
        </p:nvSpPr>
        <p:spPr>
          <a:xfrm>
            <a:off x="946000" y="2249999"/>
            <a:ext cx="3403578" cy="308846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6" name="Rect191">
            <a:extLst>
              <a:ext uri="{FF2B5EF4-FFF2-40B4-BE49-F238E27FC236}">
                <a16:creationId xmlns:a16="http://schemas.microsoft.com/office/drawing/2014/main" id="{AA44F056-EF20-781D-914C-2DAB7063BA9C}"/>
              </a:ext>
            </a:extLst>
          </p:cNvPr>
          <p:cNvSpPr/>
          <p:nvPr/>
        </p:nvSpPr>
        <p:spPr>
          <a:xfrm>
            <a:off x="946000" y="2249999"/>
            <a:ext cx="91440" cy="3088461"/>
          </a:xfrm>
          <a:prstGeom prst="rect">
            <a:avLst/>
          </a:prstGeom>
          <a:solidFill>
            <a:srgbClr val="FDAD0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7" name="TxBox192">
            <a:extLst>
              <a:ext uri="{FF2B5EF4-FFF2-40B4-BE49-F238E27FC236}">
                <a16:creationId xmlns:a16="http://schemas.microsoft.com/office/drawing/2014/main" id="{3C4B3FD8-18FD-61EE-51FD-D57E3938E89A}"/>
              </a:ext>
            </a:extLst>
          </p:cNvPr>
          <p:cNvSpPr txBox="1"/>
          <p:nvPr/>
        </p:nvSpPr>
        <p:spPr>
          <a:xfrm>
            <a:off x="1025998" y="2375858"/>
            <a:ext cx="3323579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000" b="1">
                <a:solidFill>
                  <a:srgbClr val="FDAD00"/>
                </a:solidFill>
                <a:latin typeface="Aptos SemiBold"/>
              </a:rPr>
              <a:t>01</a:t>
            </a:r>
          </a:p>
        </p:txBody>
      </p:sp>
      <p:sp>
        <p:nvSpPr>
          <p:cNvPr id="28" name="TxBox193">
            <a:extLst>
              <a:ext uri="{FF2B5EF4-FFF2-40B4-BE49-F238E27FC236}">
                <a16:creationId xmlns:a16="http://schemas.microsoft.com/office/drawing/2014/main" id="{6B36A09B-0EE8-7560-9B95-6BC503B17A4F}"/>
              </a:ext>
            </a:extLst>
          </p:cNvPr>
          <p:cNvSpPr txBox="1"/>
          <p:nvPr/>
        </p:nvSpPr>
        <p:spPr>
          <a:xfrm>
            <a:off x="946000" y="3027002"/>
            <a:ext cx="3403578" cy="600000"/>
          </a:xfrm>
          <a:prstGeom prst="rect">
            <a:avLst/>
          </a:prstGeom>
          <a:noFill/>
        </p:spPr>
        <p:txBody>
          <a:bodyPr wrap="square" lIns="150000" tIns="0" rIns="150000" bIns="0" anchor="t"/>
          <a:lstStyle/>
          <a:p>
            <a:pPr algn="ctr">
              <a:buNone/>
            </a:pPr>
            <a:r>
              <a:rPr lang="en-US" sz="2800" b="1">
                <a:solidFill>
                  <a:srgbClr val="1F1F1F"/>
                </a:solidFill>
                <a:latin typeface="Aptos SemiBold"/>
              </a:rPr>
              <a:t>QA passes</a:t>
            </a:r>
          </a:p>
        </p:txBody>
      </p:sp>
      <p:sp>
        <p:nvSpPr>
          <p:cNvPr id="29" name="TxBox194">
            <a:extLst>
              <a:ext uri="{FF2B5EF4-FFF2-40B4-BE49-F238E27FC236}">
                <a16:creationId xmlns:a16="http://schemas.microsoft.com/office/drawing/2014/main" id="{17CD8521-57B0-9CFC-B103-ECD24B73AE08}"/>
              </a:ext>
            </a:extLst>
          </p:cNvPr>
          <p:cNvSpPr txBox="1"/>
          <p:nvPr/>
        </p:nvSpPr>
        <p:spPr>
          <a:xfrm>
            <a:off x="1025999" y="3749999"/>
            <a:ext cx="3318489" cy="1464551"/>
          </a:xfrm>
          <a:prstGeom prst="rect">
            <a:avLst/>
          </a:prstGeom>
          <a:noFill/>
        </p:spPr>
        <p:txBody>
          <a:bodyPr wrap="square" lIns="150000" tIns="0" rIns="150000" bIns="0" anchor="t"/>
          <a:lstStyle/>
          <a:p>
            <a:pPr algn="ctr">
              <a:buNone/>
            </a:pPr>
            <a:r>
              <a:rPr lang="en-US" sz="2400">
                <a:solidFill>
                  <a:srgbClr val="595959"/>
                </a:solidFill>
                <a:latin typeface="Aptos"/>
              </a:rPr>
              <a:t>All linked issues marked done. Acceptance criteria met.</a:t>
            </a:r>
          </a:p>
        </p:txBody>
      </p:sp>
      <p:sp>
        <p:nvSpPr>
          <p:cNvPr id="30" name="Rect195">
            <a:extLst>
              <a:ext uri="{FF2B5EF4-FFF2-40B4-BE49-F238E27FC236}">
                <a16:creationId xmlns:a16="http://schemas.microsoft.com/office/drawing/2014/main" id="{B59C9208-146F-C0EE-1EA9-DE045000D440}"/>
              </a:ext>
            </a:extLst>
          </p:cNvPr>
          <p:cNvSpPr/>
          <p:nvPr/>
        </p:nvSpPr>
        <p:spPr>
          <a:xfrm>
            <a:off x="4496000" y="2249999"/>
            <a:ext cx="3403578" cy="308846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1" name="Rect196">
            <a:extLst>
              <a:ext uri="{FF2B5EF4-FFF2-40B4-BE49-F238E27FC236}">
                <a16:creationId xmlns:a16="http://schemas.microsoft.com/office/drawing/2014/main" id="{92C93592-AF37-87EC-D5C7-13D8DD5F3579}"/>
              </a:ext>
            </a:extLst>
          </p:cNvPr>
          <p:cNvSpPr/>
          <p:nvPr/>
        </p:nvSpPr>
        <p:spPr>
          <a:xfrm>
            <a:off x="4496000" y="2249999"/>
            <a:ext cx="91440" cy="3088461"/>
          </a:xfrm>
          <a:prstGeom prst="rect">
            <a:avLst/>
          </a:prstGeom>
          <a:solidFill>
            <a:srgbClr val="FDAD0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2" name="TxBox197">
            <a:extLst>
              <a:ext uri="{FF2B5EF4-FFF2-40B4-BE49-F238E27FC236}">
                <a16:creationId xmlns:a16="http://schemas.microsoft.com/office/drawing/2014/main" id="{F1FC04D8-9C59-325D-A69C-38B609EF9BC1}"/>
              </a:ext>
            </a:extLst>
          </p:cNvPr>
          <p:cNvSpPr txBox="1"/>
          <p:nvPr/>
        </p:nvSpPr>
        <p:spPr>
          <a:xfrm>
            <a:off x="4575998" y="2375858"/>
            <a:ext cx="3323579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000" b="1">
                <a:solidFill>
                  <a:srgbClr val="FDAD00"/>
                </a:solidFill>
                <a:latin typeface="Aptos SemiBold"/>
              </a:rPr>
              <a:t>02</a:t>
            </a:r>
          </a:p>
        </p:txBody>
      </p:sp>
      <p:sp>
        <p:nvSpPr>
          <p:cNvPr id="33" name="TxBox198">
            <a:extLst>
              <a:ext uri="{FF2B5EF4-FFF2-40B4-BE49-F238E27FC236}">
                <a16:creationId xmlns:a16="http://schemas.microsoft.com/office/drawing/2014/main" id="{FB3F2DE8-8038-9114-6AEC-99E2F7CB5EC4}"/>
              </a:ext>
            </a:extLst>
          </p:cNvPr>
          <p:cNvSpPr txBox="1"/>
          <p:nvPr/>
        </p:nvSpPr>
        <p:spPr>
          <a:xfrm>
            <a:off x="4496000" y="3027002"/>
            <a:ext cx="3403578" cy="600000"/>
          </a:xfrm>
          <a:prstGeom prst="rect">
            <a:avLst/>
          </a:prstGeom>
          <a:noFill/>
        </p:spPr>
        <p:txBody>
          <a:bodyPr wrap="square" lIns="150000" tIns="0" rIns="150000" bIns="0" anchor="t"/>
          <a:lstStyle/>
          <a:p>
            <a:pPr algn="ctr">
              <a:buNone/>
            </a:pPr>
            <a:r>
              <a:rPr lang="en-US" sz="2800" b="1">
                <a:solidFill>
                  <a:srgbClr val="1F1F1F"/>
                </a:solidFill>
                <a:latin typeface="Aptos SemiBold"/>
              </a:rPr>
              <a:t>Merge &amp; release</a:t>
            </a:r>
          </a:p>
        </p:txBody>
      </p:sp>
      <p:sp>
        <p:nvSpPr>
          <p:cNvPr id="34" name="TxBox199">
            <a:extLst>
              <a:ext uri="{FF2B5EF4-FFF2-40B4-BE49-F238E27FC236}">
                <a16:creationId xmlns:a16="http://schemas.microsoft.com/office/drawing/2014/main" id="{C5A883FD-41A0-414B-A8FB-FA6D9A9B56C3}"/>
              </a:ext>
            </a:extLst>
          </p:cNvPr>
          <p:cNvSpPr txBox="1"/>
          <p:nvPr/>
        </p:nvSpPr>
        <p:spPr>
          <a:xfrm>
            <a:off x="4575999" y="3750000"/>
            <a:ext cx="3318489" cy="1464550"/>
          </a:xfrm>
          <a:prstGeom prst="rect">
            <a:avLst/>
          </a:prstGeom>
          <a:noFill/>
        </p:spPr>
        <p:txBody>
          <a:bodyPr wrap="square" lIns="150000" tIns="0" rIns="150000" bIns="0" anchor="t"/>
          <a:lstStyle/>
          <a:p>
            <a:pPr algn="ctr">
              <a:buNone/>
            </a:pPr>
            <a:r>
              <a:rPr lang="en-US" sz="2400" dirty="0">
                <a:solidFill>
                  <a:srgbClr val="595959"/>
                </a:solidFill>
                <a:latin typeface="Aptos"/>
              </a:rPr>
              <a:t>AI updates changelog and release notes from the PR.</a:t>
            </a:r>
          </a:p>
          <a:p>
            <a:pPr algn="ctr">
              <a:buNone/>
            </a:pPr>
            <a:endParaRPr lang="en-US" sz="2400" dirty="0">
              <a:solidFill>
                <a:srgbClr val="595959"/>
              </a:solidFill>
              <a:latin typeface="Aptos"/>
            </a:endParaRPr>
          </a:p>
        </p:txBody>
      </p:sp>
      <p:sp>
        <p:nvSpPr>
          <p:cNvPr id="35" name="Rect200">
            <a:extLst>
              <a:ext uri="{FF2B5EF4-FFF2-40B4-BE49-F238E27FC236}">
                <a16:creationId xmlns:a16="http://schemas.microsoft.com/office/drawing/2014/main" id="{5879D2C9-324C-56FF-5CF0-7122AA00A259}"/>
              </a:ext>
            </a:extLst>
          </p:cNvPr>
          <p:cNvSpPr/>
          <p:nvPr/>
        </p:nvSpPr>
        <p:spPr>
          <a:xfrm>
            <a:off x="8046000" y="2249999"/>
            <a:ext cx="3403578" cy="308846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6" name="Rect201">
            <a:extLst>
              <a:ext uri="{FF2B5EF4-FFF2-40B4-BE49-F238E27FC236}">
                <a16:creationId xmlns:a16="http://schemas.microsoft.com/office/drawing/2014/main" id="{EF168FB5-4B31-E2A3-069D-2576F219701C}"/>
              </a:ext>
            </a:extLst>
          </p:cNvPr>
          <p:cNvSpPr/>
          <p:nvPr/>
        </p:nvSpPr>
        <p:spPr>
          <a:xfrm>
            <a:off x="8046000" y="2249999"/>
            <a:ext cx="91440" cy="3088461"/>
          </a:xfrm>
          <a:prstGeom prst="rect">
            <a:avLst/>
          </a:prstGeom>
          <a:solidFill>
            <a:srgbClr val="FDAD00"/>
          </a:solidFill>
          <a:ln>
            <a:noFill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7" name="TxBox202">
            <a:extLst>
              <a:ext uri="{FF2B5EF4-FFF2-40B4-BE49-F238E27FC236}">
                <a16:creationId xmlns:a16="http://schemas.microsoft.com/office/drawing/2014/main" id="{FB152322-FB7E-4B29-EF64-FC66FE92690F}"/>
              </a:ext>
            </a:extLst>
          </p:cNvPr>
          <p:cNvSpPr txBox="1"/>
          <p:nvPr/>
        </p:nvSpPr>
        <p:spPr>
          <a:xfrm>
            <a:off x="8125998" y="2375858"/>
            <a:ext cx="3323579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000" b="1">
                <a:solidFill>
                  <a:srgbClr val="FDAD00"/>
                </a:solidFill>
                <a:latin typeface="Aptos SemiBold"/>
              </a:rPr>
              <a:t>03</a:t>
            </a:r>
          </a:p>
        </p:txBody>
      </p:sp>
      <p:sp>
        <p:nvSpPr>
          <p:cNvPr id="38" name="TxBox203">
            <a:extLst>
              <a:ext uri="{FF2B5EF4-FFF2-40B4-BE49-F238E27FC236}">
                <a16:creationId xmlns:a16="http://schemas.microsoft.com/office/drawing/2014/main" id="{EC83F293-4637-32D2-59EA-B3C35BB004A8}"/>
              </a:ext>
            </a:extLst>
          </p:cNvPr>
          <p:cNvSpPr txBox="1"/>
          <p:nvPr/>
        </p:nvSpPr>
        <p:spPr>
          <a:xfrm>
            <a:off x="8046000" y="3027002"/>
            <a:ext cx="3403578" cy="600000"/>
          </a:xfrm>
          <a:prstGeom prst="rect">
            <a:avLst/>
          </a:prstGeom>
          <a:noFill/>
        </p:spPr>
        <p:txBody>
          <a:bodyPr wrap="square" lIns="150000" tIns="0" rIns="150000" bIns="0" anchor="t"/>
          <a:lstStyle/>
          <a:p>
            <a:pPr algn="ctr">
              <a:buNone/>
            </a:pPr>
            <a:r>
              <a:rPr lang="en-US" sz="2800" b="1">
                <a:solidFill>
                  <a:srgbClr val="1F1F1F"/>
                </a:solidFill>
                <a:latin typeface="Aptos SemiBold"/>
              </a:rPr>
              <a:t>Feed the system</a:t>
            </a:r>
          </a:p>
        </p:txBody>
      </p:sp>
      <p:sp>
        <p:nvSpPr>
          <p:cNvPr id="39" name="TxBox204">
            <a:extLst>
              <a:ext uri="{FF2B5EF4-FFF2-40B4-BE49-F238E27FC236}">
                <a16:creationId xmlns:a16="http://schemas.microsoft.com/office/drawing/2014/main" id="{DE707DF3-56F5-8A5C-DA06-82FD1DBA5033}"/>
              </a:ext>
            </a:extLst>
          </p:cNvPr>
          <p:cNvSpPr txBox="1"/>
          <p:nvPr/>
        </p:nvSpPr>
        <p:spPr>
          <a:xfrm>
            <a:off x="8125999" y="3750000"/>
            <a:ext cx="3318489" cy="1464550"/>
          </a:xfrm>
          <a:prstGeom prst="rect">
            <a:avLst/>
          </a:prstGeom>
          <a:noFill/>
        </p:spPr>
        <p:txBody>
          <a:bodyPr wrap="square" lIns="150000" tIns="0" rIns="150000" bIns="0" anchor="t"/>
          <a:lstStyle/>
          <a:p>
            <a:pPr algn="ctr">
              <a:buNone/>
            </a:pPr>
            <a:r>
              <a:rPr lang="en-US" sz="2400" dirty="0">
                <a:solidFill>
                  <a:srgbClr val="595959"/>
                </a:solidFill>
                <a:latin typeface="Aptos"/>
              </a:rPr>
              <a:t>Agent’s instructions and docs are updated.</a:t>
            </a:r>
          </a:p>
          <a:p>
            <a:pPr algn="ctr">
              <a:buNone/>
            </a:pPr>
            <a:endParaRPr lang="en-US" sz="2400" dirty="0">
              <a:solidFill>
                <a:srgbClr val="595959"/>
              </a:solidFill>
              <a:latin typeface="Aptos"/>
            </a:endParaRPr>
          </a:p>
        </p:txBody>
      </p:sp>
      <p:sp>
        <p:nvSpPr>
          <p:cNvPr id="40" name="Zástupný obsah 5">
            <a:extLst>
              <a:ext uri="{FF2B5EF4-FFF2-40B4-BE49-F238E27FC236}">
                <a16:creationId xmlns:a16="http://schemas.microsoft.com/office/drawing/2014/main" id="{E8C17113-2528-76B7-EB19-2A4171386016}"/>
              </a:ext>
            </a:extLst>
          </p:cNvPr>
          <p:cNvSpPr txBox="1">
            <a:spLocks/>
          </p:cNvSpPr>
          <p:nvPr/>
        </p:nvSpPr>
        <p:spPr>
          <a:xfrm>
            <a:off x="878840" y="1447510"/>
            <a:ext cx="10515600" cy="486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  <a:latin typeface="Aptos SemiBold"/>
              </a:rPr>
              <a:t>Stage 07 · SHIP</a:t>
            </a:r>
          </a:p>
        </p:txBody>
      </p:sp>
    </p:spTree>
    <p:extLst>
      <p:ext uri="{BB962C8B-B14F-4D97-AF65-F5344CB8AC3E}">
        <p14:creationId xmlns:p14="http://schemas.microsoft.com/office/powerpoint/2010/main" val="1706946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C174C-39AD-AB73-67E2-B60D3731C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Label">
            <a:extLst>
              <a:ext uri="{FF2B5EF4-FFF2-40B4-BE49-F238E27FC236}">
                <a16:creationId xmlns:a16="http://schemas.microsoft.com/office/drawing/2014/main" id="{D17F7042-D4D5-E569-1578-81D3728F0131}"/>
              </a:ext>
            </a:extLst>
          </p:cNvPr>
          <p:cNvSpPr txBox="1"/>
          <p:nvPr/>
        </p:nvSpPr>
        <p:spPr>
          <a:xfrm>
            <a:off x="838200" y="2400000"/>
            <a:ext cx="105156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1" spc="400" dirty="0">
                <a:solidFill>
                  <a:srgbClr val="FFC000"/>
                </a:solidFill>
                <a:latin typeface="Aptos SemiBold"/>
              </a:rPr>
              <a:t>DEMO</a:t>
            </a:r>
          </a:p>
        </p:txBody>
      </p:sp>
      <p:sp>
        <p:nvSpPr>
          <p:cNvPr id="5" name="MainTitle">
            <a:extLst>
              <a:ext uri="{FF2B5EF4-FFF2-40B4-BE49-F238E27FC236}">
                <a16:creationId xmlns:a16="http://schemas.microsoft.com/office/drawing/2014/main" id="{B848F718-A8C3-B08D-86F1-F3A3E534EBBE}"/>
              </a:ext>
            </a:extLst>
          </p:cNvPr>
          <p:cNvSpPr txBox="1"/>
          <p:nvPr/>
        </p:nvSpPr>
        <p:spPr>
          <a:xfrm>
            <a:off x="838200" y="2900000"/>
            <a:ext cx="10515600" cy="1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7200" b="1" dirty="0">
                <a:solidFill>
                  <a:schemeClr val="bg1"/>
                </a:solidFill>
                <a:latin typeface="Aptos SemiBold"/>
              </a:rPr>
              <a:t>Final State (Audit Logs)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C344DC6-BA55-6461-7E8B-6CAC1A355736}"/>
              </a:ext>
            </a:extLst>
          </p:cNvPr>
          <p:cNvSpPr txBox="1"/>
          <p:nvPr/>
        </p:nvSpPr>
        <p:spPr>
          <a:xfrm>
            <a:off x="838200" y="4250000"/>
            <a:ext cx="1051560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800" i="1" dirty="0">
                <a:solidFill>
                  <a:schemeClr val="bg2">
                    <a:lumMod val="90000"/>
                  </a:schemeClr>
                </a:solidFill>
                <a:latin typeface="Aptos"/>
              </a:rPr>
              <a:t>Feature is implemented</a:t>
            </a:r>
          </a:p>
        </p:txBody>
      </p:sp>
    </p:spTree>
    <p:extLst>
      <p:ext uri="{BB962C8B-B14F-4D97-AF65-F5344CB8AC3E}">
        <p14:creationId xmlns:p14="http://schemas.microsoft.com/office/powerpoint/2010/main" val="3733885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32FC4-780B-8DE5-FCA7-B5A6BB7EE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Label">
            <a:extLst>
              <a:ext uri="{FF2B5EF4-FFF2-40B4-BE49-F238E27FC236}">
                <a16:creationId xmlns:a16="http://schemas.microsoft.com/office/drawing/2014/main" id="{4415CD17-45B3-6989-32DF-42547F8284EB}"/>
              </a:ext>
            </a:extLst>
          </p:cNvPr>
          <p:cNvSpPr txBox="1"/>
          <p:nvPr/>
        </p:nvSpPr>
        <p:spPr>
          <a:xfrm>
            <a:off x="838200" y="2400000"/>
            <a:ext cx="105156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1" spc="400">
                <a:solidFill>
                  <a:srgbClr val="FFC000"/>
                </a:solidFill>
                <a:latin typeface="Aptos SemiBold"/>
              </a:rPr>
              <a:t>PART 2</a:t>
            </a:r>
          </a:p>
        </p:txBody>
      </p:sp>
      <p:sp>
        <p:nvSpPr>
          <p:cNvPr id="5" name="MainTitle">
            <a:extLst>
              <a:ext uri="{FF2B5EF4-FFF2-40B4-BE49-F238E27FC236}">
                <a16:creationId xmlns:a16="http://schemas.microsoft.com/office/drawing/2014/main" id="{84B2D2DE-BD45-A4A3-A894-36DBDBD7C57F}"/>
              </a:ext>
            </a:extLst>
          </p:cNvPr>
          <p:cNvSpPr txBox="1"/>
          <p:nvPr/>
        </p:nvSpPr>
        <p:spPr>
          <a:xfrm>
            <a:off x="729049" y="2900000"/>
            <a:ext cx="10787447" cy="1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7200" b="1">
                <a:solidFill>
                  <a:schemeClr val="bg1"/>
                </a:solidFill>
                <a:latin typeface="Aptos SemiBold"/>
              </a:rPr>
              <a:t>The Principles Underneath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2D215E0F-40B5-C8E9-B151-02BA8AC47FFF}"/>
              </a:ext>
            </a:extLst>
          </p:cNvPr>
          <p:cNvSpPr txBox="1"/>
          <p:nvPr/>
        </p:nvSpPr>
        <p:spPr>
          <a:xfrm>
            <a:off x="838200" y="4250000"/>
            <a:ext cx="1051560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800" i="1">
                <a:solidFill>
                  <a:schemeClr val="bg2">
                    <a:lumMod val="90000"/>
                  </a:schemeClr>
                </a:solidFill>
                <a:latin typeface="Aptos"/>
              </a:rPr>
              <a:t>What makes the workflow actually work</a:t>
            </a:r>
          </a:p>
        </p:txBody>
      </p:sp>
    </p:spTree>
    <p:extLst>
      <p:ext uri="{BB962C8B-B14F-4D97-AF65-F5344CB8AC3E}">
        <p14:creationId xmlns:p14="http://schemas.microsoft.com/office/powerpoint/2010/main" val="1008208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8CAF1-6FB0-CAF3-40A9-6C1938035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9548B96A-B7CB-2ED9-1066-F44D19964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1F1F1F"/>
                </a:solidFill>
                <a:latin typeface="Aptos SemiBold"/>
              </a:rPr>
              <a:t>Artifacts over conversations</a:t>
            </a:r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918D551F-FED8-F296-26D2-2308429AA426}"/>
              </a:ext>
            </a:extLst>
          </p:cNvPr>
          <p:cNvSpPr txBox="1"/>
          <p:nvPr/>
        </p:nvSpPr>
        <p:spPr>
          <a:xfrm>
            <a:off x="838200" y="6137275"/>
            <a:ext cx="1051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i="1">
                <a:solidFill>
                  <a:srgbClr val="FDAD00"/>
                </a:solidFill>
                <a:latin typeface="Aptos"/>
              </a:rPr>
              <a:t>If it only exists in a chat window, it doesn’t exist in your engineering process.</a:t>
            </a:r>
          </a:p>
        </p:txBody>
      </p:sp>
      <p:sp>
        <p:nvSpPr>
          <p:cNvPr id="40" name="Zástupný obsah 5">
            <a:extLst>
              <a:ext uri="{FF2B5EF4-FFF2-40B4-BE49-F238E27FC236}">
                <a16:creationId xmlns:a16="http://schemas.microsoft.com/office/drawing/2014/main" id="{9596799F-CA69-E8F7-109D-B144209E3E8E}"/>
              </a:ext>
            </a:extLst>
          </p:cNvPr>
          <p:cNvSpPr txBox="1">
            <a:spLocks/>
          </p:cNvSpPr>
          <p:nvPr/>
        </p:nvSpPr>
        <p:spPr>
          <a:xfrm>
            <a:off x="878840" y="1447510"/>
            <a:ext cx="10515600" cy="486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  <a:latin typeface="Aptos SemiBold"/>
              </a:rPr>
              <a:t>Principle 01</a:t>
            </a:r>
          </a:p>
        </p:txBody>
      </p:sp>
      <p:sp>
        <p:nvSpPr>
          <p:cNvPr id="6" name="TxBox383">
            <a:extLst>
              <a:ext uri="{FF2B5EF4-FFF2-40B4-BE49-F238E27FC236}">
                <a16:creationId xmlns:a16="http://schemas.microsoft.com/office/drawing/2014/main" id="{D33DDE80-0F4B-E491-044B-40661E30401F}"/>
              </a:ext>
            </a:extLst>
          </p:cNvPr>
          <p:cNvSpPr txBox="1"/>
          <p:nvPr/>
        </p:nvSpPr>
        <p:spPr>
          <a:xfrm>
            <a:off x="838200" y="2407003"/>
            <a:ext cx="1500000" cy="60000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numCol="1" anchor="ctr" anchorCtr="0"/>
          <a:lstStyle/>
          <a:p>
            <a:pPr algn="ctr">
              <a:buNone/>
            </a:pPr>
            <a:r>
              <a:rPr lang="en-US" sz="2400" b="1">
                <a:solidFill>
                  <a:schemeClr val="bg1"/>
                </a:solidFill>
              </a:rPr>
              <a:t>Prototype</a:t>
            </a:r>
          </a:p>
        </p:txBody>
      </p:sp>
      <p:sp>
        <p:nvSpPr>
          <p:cNvPr id="7" name="TxBox384">
            <a:extLst>
              <a:ext uri="{FF2B5EF4-FFF2-40B4-BE49-F238E27FC236}">
                <a16:creationId xmlns:a16="http://schemas.microsoft.com/office/drawing/2014/main" id="{88E60F01-B5A1-19AF-5458-3E710CE297D0}"/>
              </a:ext>
            </a:extLst>
          </p:cNvPr>
          <p:cNvSpPr txBox="1"/>
          <p:nvPr/>
        </p:nvSpPr>
        <p:spPr>
          <a:xfrm>
            <a:off x="2338200" y="2368584"/>
            <a:ext cx="250000" cy="600000"/>
          </a:xfrm>
          <a:prstGeom prst="rect">
            <a:avLst/>
          </a:prstGeom>
          <a:noFill/>
        </p:spPr>
        <p:txBody>
          <a:bodyPr wrap="square" lIns="0" tIns="90000" rIns="0" bIns="0" anchor="ctr"/>
          <a:lstStyle/>
          <a:p>
            <a:pPr algn="ctr">
              <a:buNone/>
            </a:pPr>
            <a:r>
              <a:rPr lang="en-US" sz="2400" b="1">
                <a:solidFill>
                  <a:srgbClr val="808080"/>
                </a:solidFill>
                <a:latin typeface="Aptos"/>
              </a:rPr>
              <a:t>→</a:t>
            </a:r>
          </a:p>
        </p:txBody>
      </p:sp>
      <p:sp>
        <p:nvSpPr>
          <p:cNvPr id="9" name="TxBox386">
            <a:extLst>
              <a:ext uri="{FF2B5EF4-FFF2-40B4-BE49-F238E27FC236}">
                <a16:creationId xmlns:a16="http://schemas.microsoft.com/office/drawing/2014/main" id="{6921AE0F-14AB-2A03-8756-133195B27F68}"/>
              </a:ext>
            </a:extLst>
          </p:cNvPr>
          <p:cNvSpPr txBox="1"/>
          <p:nvPr/>
        </p:nvSpPr>
        <p:spPr>
          <a:xfrm>
            <a:off x="2588200" y="2407003"/>
            <a:ext cx="1500000" cy="60000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numCol="1" anchor="ctr" anchorCtr="0"/>
          <a:lstStyle/>
          <a:p>
            <a:pPr algn="ctr">
              <a:buNone/>
            </a:pPr>
            <a:r>
              <a:rPr lang="en-US" sz="2400" b="1">
                <a:solidFill>
                  <a:schemeClr val="bg1"/>
                </a:solidFill>
              </a:rPr>
              <a:t>ADR</a:t>
            </a:r>
          </a:p>
        </p:txBody>
      </p:sp>
      <p:sp>
        <p:nvSpPr>
          <p:cNvPr id="10" name="TxBox387">
            <a:extLst>
              <a:ext uri="{FF2B5EF4-FFF2-40B4-BE49-F238E27FC236}">
                <a16:creationId xmlns:a16="http://schemas.microsoft.com/office/drawing/2014/main" id="{5CC82001-2AF6-8511-AED4-5A8B5F7A78EC}"/>
              </a:ext>
            </a:extLst>
          </p:cNvPr>
          <p:cNvSpPr txBox="1"/>
          <p:nvPr/>
        </p:nvSpPr>
        <p:spPr>
          <a:xfrm>
            <a:off x="4088200" y="2368584"/>
            <a:ext cx="250000" cy="600000"/>
          </a:xfrm>
          <a:prstGeom prst="rect">
            <a:avLst/>
          </a:prstGeom>
          <a:noFill/>
        </p:spPr>
        <p:txBody>
          <a:bodyPr wrap="square" lIns="0" tIns="90000" rIns="0" bIns="0" anchor="ctr"/>
          <a:lstStyle/>
          <a:p>
            <a:pPr algn="ctr">
              <a:buNone/>
            </a:pPr>
            <a:r>
              <a:rPr lang="en-US" sz="2400" b="1">
                <a:solidFill>
                  <a:srgbClr val="808080"/>
                </a:solidFill>
                <a:latin typeface="Aptos"/>
              </a:rPr>
              <a:t>→</a:t>
            </a:r>
          </a:p>
        </p:txBody>
      </p:sp>
      <p:sp>
        <p:nvSpPr>
          <p:cNvPr id="13" name="TxBox389">
            <a:extLst>
              <a:ext uri="{FF2B5EF4-FFF2-40B4-BE49-F238E27FC236}">
                <a16:creationId xmlns:a16="http://schemas.microsoft.com/office/drawing/2014/main" id="{657BF24E-B66D-16EB-D275-940AA99DDF3A}"/>
              </a:ext>
            </a:extLst>
          </p:cNvPr>
          <p:cNvSpPr txBox="1"/>
          <p:nvPr/>
        </p:nvSpPr>
        <p:spPr>
          <a:xfrm>
            <a:off x="4338200" y="2407003"/>
            <a:ext cx="1500000" cy="611634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numCol="1" anchor="ctr" anchorCtr="0"/>
          <a:lstStyle/>
          <a:p>
            <a:pPr algn="ctr">
              <a:buNone/>
            </a:pPr>
            <a:r>
              <a:rPr lang="en-US" sz="2400" b="1">
                <a:solidFill>
                  <a:schemeClr val="bg1"/>
                </a:solidFill>
              </a:rPr>
              <a:t>Issues</a:t>
            </a:r>
          </a:p>
        </p:txBody>
      </p:sp>
      <p:sp>
        <p:nvSpPr>
          <p:cNvPr id="14" name="TxBox390">
            <a:extLst>
              <a:ext uri="{FF2B5EF4-FFF2-40B4-BE49-F238E27FC236}">
                <a16:creationId xmlns:a16="http://schemas.microsoft.com/office/drawing/2014/main" id="{6DBDE3C2-9D40-F223-9E2B-A4836DB856D5}"/>
              </a:ext>
            </a:extLst>
          </p:cNvPr>
          <p:cNvSpPr txBox="1"/>
          <p:nvPr/>
        </p:nvSpPr>
        <p:spPr>
          <a:xfrm>
            <a:off x="5838200" y="2368584"/>
            <a:ext cx="250000" cy="600000"/>
          </a:xfrm>
          <a:prstGeom prst="rect">
            <a:avLst/>
          </a:prstGeom>
          <a:noFill/>
        </p:spPr>
        <p:txBody>
          <a:bodyPr wrap="square" lIns="0" tIns="90000" rIns="0" bIns="0" anchor="ctr"/>
          <a:lstStyle/>
          <a:p>
            <a:pPr algn="ctr">
              <a:buNone/>
            </a:pPr>
            <a:r>
              <a:rPr lang="en-US" sz="2400" b="1">
                <a:solidFill>
                  <a:srgbClr val="808080"/>
                </a:solidFill>
                <a:latin typeface="Aptos"/>
              </a:rPr>
              <a:t>→</a:t>
            </a:r>
          </a:p>
        </p:txBody>
      </p:sp>
      <p:sp>
        <p:nvSpPr>
          <p:cNvPr id="16" name="TxBox392">
            <a:extLst>
              <a:ext uri="{FF2B5EF4-FFF2-40B4-BE49-F238E27FC236}">
                <a16:creationId xmlns:a16="http://schemas.microsoft.com/office/drawing/2014/main" id="{3D052AED-B89E-6762-8936-A5D51B77B706}"/>
              </a:ext>
            </a:extLst>
          </p:cNvPr>
          <p:cNvSpPr txBox="1"/>
          <p:nvPr/>
        </p:nvSpPr>
        <p:spPr>
          <a:xfrm>
            <a:off x="6088200" y="2407003"/>
            <a:ext cx="1500000" cy="60000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numCol="1" anchor="ctr" anchorCtr="0"/>
          <a:lstStyle/>
          <a:p>
            <a:pPr algn="ctr">
              <a:buNone/>
            </a:pPr>
            <a:r>
              <a:rPr lang="en-US" sz="2400" b="1">
                <a:solidFill>
                  <a:schemeClr val="bg1"/>
                </a:solidFill>
              </a:rPr>
              <a:t>Commits</a:t>
            </a:r>
          </a:p>
        </p:txBody>
      </p:sp>
      <p:sp>
        <p:nvSpPr>
          <p:cNvPr id="17" name="TxBox393">
            <a:extLst>
              <a:ext uri="{FF2B5EF4-FFF2-40B4-BE49-F238E27FC236}">
                <a16:creationId xmlns:a16="http://schemas.microsoft.com/office/drawing/2014/main" id="{89AB06BD-2A35-E058-2D01-A4C07A33BD13}"/>
              </a:ext>
            </a:extLst>
          </p:cNvPr>
          <p:cNvSpPr txBox="1"/>
          <p:nvPr/>
        </p:nvSpPr>
        <p:spPr>
          <a:xfrm>
            <a:off x="7588200" y="2368584"/>
            <a:ext cx="250000" cy="600000"/>
          </a:xfrm>
          <a:prstGeom prst="rect">
            <a:avLst/>
          </a:prstGeom>
          <a:noFill/>
        </p:spPr>
        <p:txBody>
          <a:bodyPr wrap="square" lIns="0" tIns="90000" rIns="0" bIns="0" anchor="ctr"/>
          <a:lstStyle/>
          <a:p>
            <a:pPr algn="ctr">
              <a:buNone/>
            </a:pPr>
            <a:r>
              <a:rPr lang="en-US" sz="2400" b="1">
                <a:solidFill>
                  <a:srgbClr val="808080"/>
                </a:solidFill>
                <a:latin typeface="Aptos"/>
              </a:rPr>
              <a:t>→</a:t>
            </a:r>
          </a:p>
        </p:txBody>
      </p:sp>
      <p:sp>
        <p:nvSpPr>
          <p:cNvPr id="19" name="TxBox395">
            <a:extLst>
              <a:ext uri="{FF2B5EF4-FFF2-40B4-BE49-F238E27FC236}">
                <a16:creationId xmlns:a16="http://schemas.microsoft.com/office/drawing/2014/main" id="{4BCF7341-1C90-2657-3643-4C22EFF267E8}"/>
              </a:ext>
            </a:extLst>
          </p:cNvPr>
          <p:cNvSpPr txBox="1"/>
          <p:nvPr/>
        </p:nvSpPr>
        <p:spPr>
          <a:xfrm>
            <a:off x="7838200" y="2407003"/>
            <a:ext cx="1500000" cy="60000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numCol="1" anchor="ctr" anchorCtr="0"/>
          <a:lstStyle/>
          <a:p>
            <a:pPr algn="ctr">
              <a:buNone/>
            </a:pPr>
            <a:r>
              <a:rPr lang="en-US" sz="2400" b="1">
                <a:solidFill>
                  <a:schemeClr val="bg1"/>
                </a:solidFill>
              </a:rPr>
              <a:t>PR</a:t>
            </a:r>
          </a:p>
        </p:txBody>
      </p:sp>
      <p:sp>
        <p:nvSpPr>
          <p:cNvPr id="20" name="TxBox396">
            <a:extLst>
              <a:ext uri="{FF2B5EF4-FFF2-40B4-BE49-F238E27FC236}">
                <a16:creationId xmlns:a16="http://schemas.microsoft.com/office/drawing/2014/main" id="{1B456774-0A84-2E29-EE72-38EC416F07AC}"/>
              </a:ext>
            </a:extLst>
          </p:cNvPr>
          <p:cNvSpPr txBox="1"/>
          <p:nvPr/>
        </p:nvSpPr>
        <p:spPr>
          <a:xfrm>
            <a:off x="9338200" y="2368584"/>
            <a:ext cx="250000" cy="600000"/>
          </a:xfrm>
          <a:prstGeom prst="rect">
            <a:avLst/>
          </a:prstGeom>
          <a:noFill/>
        </p:spPr>
        <p:txBody>
          <a:bodyPr wrap="square" lIns="0" tIns="90000" rIns="0" bIns="0" anchor="ctr"/>
          <a:lstStyle/>
          <a:p>
            <a:pPr algn="ctr">
              <a:buNone/>
            </a:pPr>
            <a:r>
              <a:rPr lang="en-US" sz="2400" b="1">
                <a:solidFill>
                  <a:srgbClr val="808080"/>
                </a:solidFill>
                <a:latin typeface="Aptos"/>
              </a:rPr>
              <a:t>→</a:t>
            </a:r>
          </a:p>
        </p:txBody>
      </p:sp>
      <p:sp>
        <p:nvSpPr>
          <p:cNvPr id="22" name="TxBox398">
            <a:extLst>
              <a:ext uri="{FF2B5EF4-FFF2-40B4-BE49-F238E27FC236}">
                <a16:creationId xmlns:a16="http://schemas.microsoft.com/office/drawing/2014/main" id="{44BF8EB4-3634-1899-424C-0C0B72AE3D45}"/>
              </a:ext>
            </a:extLst>
          </p:cNvPr>
          <p:cNvSpPr txBox="1"/>
          <p:nvPr/>
        </p:nvSpPr>
        <p:spPr>
          <a:xfrm>
            <a:off x="9588200" y="2407003"/>
            <a:ext cx="1500000" cy="60000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numCol="1" anchor="ctr" anchorCtr="0"/>
          <a:lstStyle/>
          <a:p>
            <a:pPr algn="ctr">
              <a:buNone/>
            </a:pPr>
            <a:r>
              <a:rPr lang="en-US" sz="2400" b="1">
                <a:solidFill>
                  <a:schemeClr val="bg1"/>
                </a:solidFill>
              </a:rPr>
              <a:t>Release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FF1BFB-A76D-24BC-8083-7767DD8A506B}"/>
              </a:ext>
            </a:extLst>
          </p:cNvPr>
          <p:cNvSpPr txBox="1"/>
          <p:nvPr/>
        </p:nvSpPr>
        <p:spPr>
          <a:xfrm>
            <a:off x="838200" y="3707030"/>
            <a:ext cx="1025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Every stage is a transformation of a durable artifact.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Engineering needs persistence.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</a:rPr>
              <a:t>Each artifact can be read, reviewed, blamed, and challenged even long after the AI conversation that produced it is gone.</a:t>
            </a:r>
          </a:p>
        </p:txBody>
      </p:sp>
    </p:spTree>
    <p:extLst>
      <p:ext uri="{BB962C8B-B14F-4D97-AF65-F5344CB8AC3E}">
        <p14:creationId xmlns:p14="http://schemas.microsoft.com/office/powerpoint/2010/main" val="64347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676DB-81A8-A3F5-22F9-828D8CEB6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F41F4E6E-7C53-DC84-385F-4B55AF91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1F1F1F"/>
                </a:solidFill>
                <a:latin typeface="Aptos SemiBold"/>
              </a:rPr>
              <a:t>Decomposition is the skill</a:t>
            </a:r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5278DA1D-A7E1-97D4-0FA9-DB00FAD14F83}"/>
              </a:ext>
            </a:extLst>
          </p:cNvPr>
          <p:cNvSpPr txBox="1"/>
          <p:nvPr/>
        </p:nvSpPr>
        <p:spPr>
          <a:xfrm>
            <a:off x="838200" y="6137275"/>
            <a:ext cx="1051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i="1">
                <a:solidFill>
                  <a:srgbClr val="FDAD00"/>
                </a:solidFill>
              </a:rPr>
              <a:t>Your value moved up the stack — from writing code to designing the work.</a:t>
            </a:r>
          </a:p>
        </p:txBody>
      </p:sp>
      <p:sp>
        <p:nvSpPr>
          <p:cNvPr id="40" name="Zástupný obsah 5">
            <a:extLst>
              <a:ext uri="{FF2B5EF4-FFF2-40B4-BE49-F238E27FC236}">
                <a16:creationId xmlns:a16="http://schemas.microsoft.com/office/drawing/2014/main" id="{CEE1C608-2347-0F98-AEDE-4D064B16F42A}"/>
              </a:ext>
            </a:extLst>
          </p:cNvPr>
          <p:cNvSpPr txBox="1">
            <a:spLocks/>
          </p:cNvSpPr>
          <p:nvPr/>
        </p:nvSpPr>
        <p:spPr>
          <a:xfrm>
            <a:off x="878840" y="1447510"/>
            <a:ext cx="10515600" cy="486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  <a:latin typeface="Aptos SemiBold"/>
              </a:rPr>
              <a:t>Principle 02</a:t>
            </a:r>
          </a:p>
        </p:txBody>
      </p:sp>
      <p:sp>
        <p:nvSpPr>
          <p:cNvPr id="5" name="TxBox440">
            <a:extLst>
              <a:ext uri="{FF2B5EF4-FFF2-40B4-BE49-F238E27FC236}">
                <a16:creationId xmlns:a16="http://schemas.microsoft.com/office/drawing/2014/main" id="{4E00AE4E-9DB6-96A3-1FC0-8ED944468807}"/>
              </a:ext>
            </a:extLst>
          </p:cNvPr>
          <p:cNvSpPr txBox="1"/>
          <p:nvPr/>
        </p:nvSpPr>
        <p:spPr>
          <a:xfrm>
            <a:off x="838200" y="2050000"/>
            <a:ext cx="4900000" cy="3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spc="200">
                <a:solidFill>
                  <a:srgbClr val="595959"/>
                </a:solidFill>
                <a:latin typeface="Aptos SemiBold"/>
              </a:rPr>
              <a:t>THE OLD SKILL STACK</a:t>
            </a:r>
          </a:p>
        </p:txBody>
      </p:sp>
      <p:sp>
        <p:nvSpPr>
          <p:cNvPr id="11" name="TxBox442">
            <a:extLst>
              <a:ext uri="{FF2B5EF4-FFF2-40B4-BE49-F238E27FC236}">
                <a16:creationId xmlns:a16="http://schemas.microsoft.com/office/drawing/2014/main" id="{277AACA1-CB6E-4A97-BA26-2A54D0F2A76B}"/>
              </a:ext>
            </a:extLst>
          </p:cNvPr>
          <p:cNvSpPr txBox="1"/>
          <p:nvPr/>
        </p:nvSpPr>
        <p:spPr>
          <a:xfrm>
            <a:off x="838200" y="2783523"/>
            <a:ext cx="4900000" cy="519182"/>
          </a:xfrm>
          <a:prstGeom prst="rect">
            <a:avLst/>
          </a:prstGeom>
          <a:solidFill>
            <a:schemeClr val="bg2"/>
          </a:solidFill>
        </p:spPr>
        <p:txBody>
          <a:bodyPr wrap="square" lIns="0" tIns="70000" rIns="0" bIns="0" anchor="t"/>
          <a:lstStyle/>
          <a:p>
            <a:pPr algn="ctr">
              <a:buNone/>
            </a:pPr>
            <a:r>
              <a:rPr lang="en-US" sz="2400" b="1">
                <a:solidFill>
                  <a:srgbClr val="1F1F1F"/>
                </a:solidFill>
                <a:latin typeface="Aptos SemiBold"/>
              </a:rPr>
              <a:t>Structuring the work</a:t>
            </a:r>
          </a:p>
        </p:txBody>
      </p:sp>
      <p:sp>
        <p:nvSpPr>
          <p:cNvPr id="18" name="TxBox444">
            <a:extLst>
              <a:ext uri="{FF2B5EF4-FFF2-40B4-BE49-F238E27FC236}">
                <a16:creationId xmlns:a16="http://schemas.microsoft.com/office/drawing/2014/main" id="{58C231F7-E617-A406-B2E3-412258CB07B7}"/>
              </a:ext>
            </a:extLst>
          </p:cNvPr>
          <p:cNvSpPr txBox="1"/>
          <p:nvPr/>
        </p:nvSpPr>
        <p:spPr>
          <a:xfrm>
            <a:off x="838200" y="3424562"/>
            <a:ext cx="4900000" cy="6489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0" tIns="120000" rIns="0" bIns="0" anchor="t"/>
          <a:lstStyle/>
          <a:p>
            <a:pPr algn="ctr">
              <a:buNone/>
            </a:pPr>
            <a:r>
              <a:rPr lang="en-US" sz="2400" b="1">
                <a:solidFill>
                  <a:srgbClr val="1F1F1F"/>
                </a:solidFill>
                <a:latin typeface="Aptos SemiBold"/>
              </a:rPr>
              <a:t>Designing the system</a:t>
            </a:r>
          </a:p>
        </p:txBody>
      </p:sp>
      <p:sp>
        <p:nvSpPr>
          <p:cNvPr id="23" name="TxBox446">
            <a:extLst>
              <a:ext uri="{FF2B5EF4-FFF2-40B4-BE49-F238E27FC236}">
                <a16:creationId xmlns:a16="http://schemas.microsoft.com/office/drawing/2014/main" id="{ABAB39D5-44C8-6CF3-522D-05E0D7FAA113}"/>
              </a:ext>
            </a:extLst>
          </p:cNvPr>
          <p:cNvSpPr txBox="1"/>
          <p:nvPr/>
        </p:nvSpPr>
        <p:spPr>
          <a:xfrm>
            <a:off x="838200" y="4198282"/>
            <a:ext cx="4900000" cy="116815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lIns="0" tIns="320000" rIns="0" bIns="0" anchor="t"/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  <a:latin typeface="Aptos SemiBold"/>
              </a:rPr>
              <a:t>Writing code</a:t>
            </a:r>
          </a:p>
        </p:txBody>
      </p:sp>
      <p:sp>
        <p:nvSpPr>
          <p:cNvPr id="25" name="TxBox460">
            <a:extLst>
              <a:ext uri="{FF2B5EF4-FFF2-40B4-BE49-F238E27FC236}">
                <a16:creationId xmlns:a16="http://schemas.microsoft.com/office/drawing/2014/main" id="{123B7806-BD4D-B62C-6B5F-C893DD169E76}"/>
              </a:ext>
            </a:extLst>
          </p:cNvPr>
          <p:cNvSpPr txBox="1"/>
          <p:nvPr/>
        </p:nvSpPr>
        <p:spPr>
          <a:xfrm>
            <a:off x="6453800" y="2050000"/>
            <a:ext cx="4900000" cy="3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spc="200">
                <a:solidFill>
                  <a:srgbClr val="FDAD00"/>
                </a:solidFill>
                <a:latin typeface="Aptos SemiBold"/>
              </a:rPr>
              <a:t>THE NEW SKILL STACK</a:t>
            </a:r>
          </a:p>
        </p:txBody>
      </p:sp>
      <p:sp>
        <p:nvSpPr>
          <p:cNvPr id="27" name="TxBox462">
            <a:extLst>
              <a:ext uri="{FF2B5EF4-FFF2-40B4-BE49-F238E27FC236}">
                <a16:creationId xmlns:a16="http://schemas.microsoft.com/office/drawing/2014/main" id="{484FC3C1-095E-D1AB-8980-EF9F383CEF8E}"/>
              </a:ext>
            </a:extLst>
          </p:cNvPr>
          <p:cNvSpPr txBox="1"/>
          <p:nvPr/>
        </p:nvSpPr>
        <p:spPr>
          <a:xfrm>
            <a:off x="6453800" y="2783523"/>
            <a:ext cx="4900000" cy="116815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320000" rIns="0" bIns="0" anchor="t"/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  <a:latin typeface="Aptos SemiBold"/>
              </a:rPr>
              <a:t>Structuring the work</a:t>
            </a:r>
          </a:p>
        </p:txBody>
      </p:sp>
      <p:sp>
        <p:nvSpPr>
          <p:cNvPr id="29" name="TxBox464">
            <a:extLst>
              <a:ext uri="{FF2B5EF4-FFF2-40B4-BE49-F238E27FC236}">
                <a16:creationId xmlns:a16="http://schemas.microsoft.com/office/drawing/2014/main" id="{DF0BBAF0-3452-C42F-1EC4-1C360E26E151}"/>
              </a:ext>
            </a:extLst>
          </p:cNvPr>
          <p:cNvSpPr txBox="1"/>
          <p:nvPr/>
        </p:nvSpPr>
        <p:spPr>
          <a:xfrm>
            <a:off x="6453800" y="4073539"/>
            <a:ext cx="4900000" cy="648977"/>
          </a:xfrm>
          <a:prstGeom prst="rect">
            <a:avLst/>
          </a:prstGeom>
          <a:solidFill>
            <a:srgbClr val="FDE0AC"/>
          </a:solidFill>
        </p:spPr>
        <p:txBody>
          <a:bodyPr wrap="square" lIns="0" tIns="120000" rIns="0" bIns="0" anchor="t"/>
          <a:lstStyle/>
          <a:p>
            <a:pPr algn="ctr">
              <a:buNone/>
            </a:pPr>
            <a:r>
              <a:rPr lang="en-US" sz="2400" b="1">
                <a:solidFill>
                  <a:srgbClr val="1F1F1F"/>
                </a:solidFill>
                <a:latin typeface="Aptos SemiBold"/>
              </a:rPr>
              <a:t>Designing the system</a:t>
            </a:r>
          </a:p>
        </p:txBody>
      </p:sp>
      <p:sp>
        <p:nvSpPr>
          <p:cNvPr id="31" name="TxBox466">
            <a:extLst>
              <a:ext uri="{FF2B5EF4-FFF2-40B4-BE49-F238E27FC236}">
                <a16:creationId xmlns:a16="http://schemas.microsoft.com/office/drawing/2014/main" id="{5D6CA711-82C9-3FA6-F552-9F8778A2DD4B}"/>
              </a:ext>
            </a:extLst>
          </p:cNvPr>
          <p:cNvSpPr txBox="1"/>
          <p:nvPr/>
        </p:nvSpPr>
        <p:spPr>
          <a:xfrm>
            <a:off x="6453800" y="4845816"/>
            <a:ext cx="4900000" cy="519182"/>
          </a:xfrm>
          <a:prstGeom prst="rect">
            <a:avLst/>
          </a:prstGeom>
          <a:solidFill>
            <a:srgbClr val="F5F0E0"/>
          </a:solidFill>
        </p:spPr>
        <p:txBody>
          <a:bodyPr wrap="square" lIns="0" tIns="70000" rIns="0" bIns="0" anchor="t"/>
          <a:lstStyle/>
          <a:p>
            <a:pPr algn="ctr">
              <a:buNone/>
            </a:pPr>
            <a:r>
              <a:rPr lang="en-US" sz="2400" b="1">
                <a:solidFill>
                  <a:srgbClr val="1F1F1F"/>
                </a:solidFill>
                <a:latin typeface="Aptos SemiBold"/>
              </a:rPr>
              <a:t>Writing code</a:t>
            </a:r>
          </a:p>
        </p:txBody>
      </p:sp>
    </p:spTree>
    <p:extLst>
      <p:ext uri="{BB962C8B-B14F-4D97-AF65-F5344CB8AC3E}">
        <p14:creationId xmlns:p14="http://schemas.microsoft.com/office/powerpoint/2010/main" val="3477213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8C765-5BBA-A50E-4012-82FA0B675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0EE15281-4683-8EE9-F856-199818CC4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1F1F1F"/>
                </a:solidFill>
                <a:latin typeface="Aptos SemiBold"/>
              </a:rPr>
              <a:t>Verification at every boundary</a:t>
            </a:r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36F54892-EA79-3E50-B648-A7A0C36E0C9B}"/>
              </a:ext>
            </a:extLst>
          </p:cNvPr>
          <p:cNvSpPr txBox="1"/>
          <p:nvPr/>
        </p:nvSpPr>
        <p:spPr>
          <a:xfrm>
            <a:off x="838200" y="6137275"/>
            <a:ext cx="1051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i="1" dirty="0">
                <a:solidFill>
                  <a:srgbClr val="FDAD00"/>
                </a:solidFill>
              </a:rPr>
              <a:t>They are independent checks against AI’s blind spots.</a:t>
            </a:r>
          </a:p>
        </p:txBody>
      </p:sp>
      <p:sp>
        <p:nvSpPr>
          <p:cNvPr id="40" name="Zástupný obsah 5">
            <a:extLst>
              <a:ext uri="{FF2B5EF4-FFF2-40B4-BE49-F238E27FC236}">
                <a16:creationId xmlns:a16="http://schemas.microsoft.com/office/drawing/2014/main" id="{3C3C93FC-DC18-03F7-D41F-4EC04F08CC65}"/>
              </a:ext>
            </a:extLst>
          </p:cNvPr>
          <p:cNvSpPr txBox="1">
            <a:spLocks/>
          </p:cNvSpPr>
          <p:nvPr/>
        </p:nvSpPr>
        <p:spPr>
          <a:xfrm>
            <a:off x="878840" y="1447510"/>
            <a:ext cx="10515600" cy="486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  <a:latin typeface="Aptos SemiBold"/>
              </a:rPr>
              <a:t>Principle 03</a:t>
            </a:r>
          </a:p>
        </p:txBody>
      </p:sp>
      <p:sp>
        <p:nvSpPr>
          <p:cNvPr id="3" name="Rect480">
            <a:extLst>
              <a:ext uri="{FF2B5EF4-FFF2-40B4-BE49-F238E27FC236}">
                <a16:creationId xmlns:a16="http://schemas.microsoft.com/office/drawing/2014/main" id="{666AEDD0-7BD0-43D8-5E13-89B429636591}"/>
              </a:ext>
            </a:extLst>
          </p:cNvPr>
          <p:cNvSpPr/>
          <p:nvPr/>
        </p:nvSpPr>
        <p:spPr>
          <a:xfrm>
            <a:off x="1335842" y="1877602"/>
            <a:ext cx="4101131" cy="191812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square" anchor="ctr"/>
          <a:lstStyle/>
          <a:p>
            <a:endParaRPr lang="en-US" sz="2800"/>
          </a:p>
        </p:txBody>
      </p:sp>
      <p:sp>
        <p:nvSpPr>
          <p:cNvPr id="6" name="TxBox482">
            <a:extLst>
              <a:ext uri="{FF2B5EF4-FFF2-40B4-BE49-F238E27FC236}">
                <a16:creationId xmlns:a16="http://schemas.microsoft.com/office/drawing/2014/main" id="{0ED52B1C-FB48-A59A-6410-579C60991BD0}"/>
              </a:ext>
            </a:extLst>
          </p:cNvPr>
          <p:cNvSpPr txBox="1"/>
          <p:nvPr/>
        </p:nvSpPr>
        <p:spPr>
          <a:xfrm>
            <a:off x="1335842" y="1886910"/>
            <a:ext cx="4101131" cy="456698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anchor="ctr" anchorCtr="0"/>
          <a:lstStyle/>
          <a:p>
            <a:pPr algn="ctr">
              <a:buNone/>
            </a:pPr>
            <a:r>
              <a:rPr lang="en-US" sz="2800" b="1" spc="200">
                <a:solidFill>
                  <a:srgbClr val="FFFFFF"/>
                </a:solidFill>
                <a:latin typeface="Aptos SemiBold"/>
              </a:rPr>
              <a:t>BOUNDARY 01</a:t>
            </a:r>
          </a:p>
        </p:txBody>
      </p:sp>
      <p:sp>
        <p:nvSpPr>
          <p:cNvPr id="7" name="TxBox483">
            <a:extLst>
              <a:ext uri="{FF2B5EF4-FFF2-40B4-BE49-F238E27FC236}">
                <a16:creationId xmlns:a16="http://schemas.microsoft.com/office/drawing/2014/main" id="{C4156161-01A3-BD60-863C-E97502BB21B0}"/>
              </a:ext>
            </a:extLst>
          </p:cNvPr>
          <p:cNvSpPr txBox="1"/>
          <p:nvPr/>
        </p:nvSpPr>
        <p:spPr>
          <a:xfrm>
            <a:off x="1335842" y="2393212"/>
            <a:ext cx="4101131" cy="454592"/>
          </a:xfrm>
          <a:prstGeom prst="rect">
            <a:avLst/>
          </a:prstGeom>
          <a:noFill/>
        </p:spPr>
        <p:txBody>
          <a:bodyPr wrap="square" lIns="100000" tIns="0" rIns="100000" bIns="0" anchor="ctr"/>
          <a:lstStyle/>
          <a:p>
            <a:pPr algn="ctr">
              <a:buNone/>
            </a:pPr>
            <a:r>
              <a:rPr lang="en-US" sz="2800" b="1">
                <a:solidFill>
                  <a:srgbClr val="1F1F1F"/>
                </a:solidFill>
                <a:latin typeface="Aptos SemiBold"/>
              </a:rPr>
              <a:t>Stakeholder approval</a:t>
            </a:r>
          </a:p>
        </p:txBody>
      </p:sp>
      <p:sp>
        <p:nvSpPr>
          <p:cNvPr id="8" name="TxBox484">
            <a:extLst>
              <a:ext uri="{FF2B5EF4-FFF2-40B4-BE49-F238E27FC236}">
                <a16:creationId xmlns:a16="http://schemas.microsoft.com/office/drawing/2014/main" id="{90F46321-CF7B-0B76-8B06-5FD8ED621F0E}"/>
              </a:ext>
            </a:extLst>
          </p:cNvPr>
          <p:cNvSpPr txBox="1"/>
          <p:nvPr/>
        </p:nvSpPr>
        <p:spPr>
          <a:xfrm>
            <a:off x="1335842" y="2925715"/>
            <a:ext cx="4101131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spc="200">
                <a:solidFill>
                  <a:srgbClr val="595959"/>
                </a:solidFill>
                <a:latin typeface="Aptos SemiBold"/>
              </a:rPr>
              <a:t>CATCHES</a:t>
            </a:r>
          </a:p>
        </p:txBody>
      </p:sp>
      <p:sp>
        <p:nvSpPr>
          <p:cNvPr id="9" name="TxBox485">
            <a:extLst>
              <a:ext uri="{FF2B5EF4-FFF2-40B4-BE49-F238E27FC236}">
                <a16:creationId xmlns:a16="http://schemas.microsoft.com/office/drawing/2014/main" id="{AE5ECC6E-C3C2-A7F3-4DD2-B4BAEB19C53F}"/>
              </a:ext>
            </a:extLst>
          </p:cNvPr>
          <p:cNvSpPr txBox="1"/>
          <p:nvPr/>
        </p:nvSpPr>
        <p:spPr>
          <a:xfrm>
            <a:off x="1323683" y="3285750"/>
            <a:ext cx="4101131" cy="4566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>
                <a:solidFill>
                  <a:srgbClr val="FFC000"/>
                </a:solidFill>
                <a:latin typeface="Aptos SemiBold"/>
              </a:rPr>
              <a:t>Wrong scope</a:t>
            </a:r>
          </a:p>
        </p:txBody>
      </p:sp>
      <p:sp>
        <p:nvSpPr>
          <p:cNvPr id="36" name="Rect480">
            <a:extLst>
              <a:ext uri="{FF2B5EF4-FFF2-40B4-BE49-F238E27FC236}">
                <a16:creationId xmlns:a16="http://schemas.microsoft.com/office/drawing/2014/main" id="{0B874B52-3D20-B379-B911-03E9CB3711C1}"/>
              </a:ext>
            </a:extLst>
          </p:cNvPr>
          <p:cNvSpPr/>
          <p:nvPr/>
        </p:nvSpPr>
        <p:spPr>
          <a:xfrm>
            <a:off x="6767188" y="1874263"/>
            <a:ext cx="4101131" cy="191812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square" anchor="ctr"/>
          <a:lstStyle/>
          <a:p>
            <a:endParaRPr lang="en-US" sz="2800"/>
          </a:p>
        </p:txBody>
      </p:sp>
      <p:sp>
        <p:nvSpPr>
          <p:cNvPr id="37" name="TxBox482">
            <a:extLst>
              <a:ext uri="{FF2B5EF4-FFF2-40B4-BE49-F238E27FC236}">
                <a16:creationId xmlns:a16="http://schemas.microsoft.com/office/drawing/2014/main" id="{EEA72CAE-B03B-546E-D650-CF0580C5B890}"/>
              </a:ext>
            </a:extLst>
          </p:cNvPr>
          <p:cNvSpPr txBox="1"/>
          <p:nvPr/>
        </p:nvSpPr>
        <p:spPr>
          <a:xfrm>
            <a:off x="6767188" y="1883571"/>
            <a:ext cx="4101131" cy="456698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anchor="ctr" anchorCtr="0"/>
          <a:lstStyle/>
          <a:p>
            <a:pPr algn="ctr">
              <a:buNone/>
            </a:pPr>
            <a:r>
              <a:rPr lang="en-US" sz="2800" b="1" spc="200">
                <a:solidFill>
                  <a:srgbClr val="FFFFFF"/>
                </a:solidFill>
                <a:latin typeface="Aptos SemiBold"/>
              </a:rPr>
              <a:t>BOUNDARY 02</a:t>
            </a:r>
          </a:p>
        </p:txBody>
      </p:sp>
      <p:sp>
        <p:nvSpPr>
          <p:cNvPr id="38" name="TxBox483">
            <a:extLst>
              <a:ext uri="{FF2B5EF4-FFF2-40B4-BE49-F238E27FC236}">
                <a16:creationId xmlns:a16="http://schemas.microsoft.com/office/drawing/2014/main" id="{119C4438-E057-6BD6-8166-1AD9DF50951F}"/>
              </a:ext>
            </a:extLst>
          </p:cNvPr>
          <p:cNvSpPr txBox="1"/>
          <p:nvPr/>
        </p:nvSpPr>
        <p:spPr>
          <a:xfrm>
            <a:off x="6767188" y="2389873"/>
            <a:ext cx="4101131" cy="454592"/>
          </a:xfrm>
          <a:prstGeom prst="rect">
            <a:avLst/>
          </a:prstGeom>
          <a:noFill/>
        </p:spPr>
        <p:txBody>
          <a:bodyPr wrap="square" lIns="100000" tIns="0" rIns="100000" bIns="0" anchor="ctr"/>
          <a:lstStyle/>
          <a:p>
            <a:pPr algn="ctr">
              <a:buNone/>
            </a:pPr>
            <a:r>
              <a:rPr lang="en-US" sz="2800" b="1">
                <a:solidFill>
                  <a:srgbClr val="1F1F1F"/>
                </a:solidFill>
                <a:latin typeface="Aptos SemiBold"/>
              </a:rPr>
              <a:t>Agent review</a:t>
            </a:r>
          </a:p>
        </p:txBody>
      </p:sp>
      <p:sp>
        <p:nvSpPr>
          <p:cNvPr id="39" name="TxBox484">
            <a:extLst>
              <a:ext uri="{FF2B5EF4-FFF2-40B4-BE49-F238E27FC236}">
                <a16:creationId xmlns:a16="http://schemas.microsoft.com/office/drawing/2014/main" id="{1B1317C8-CFB1-4731-51C0-97ACB6BE9FA9}"/>
              </a:ext>
            </a:extLst>
          </p:cNvPr>
          <p:cNvSpPr txBox="1"/>
          <p:nvPr/>
        </p:nvSpPr>
        <p:spPr>
          <a:xfrm>
            <a:off x="6767188" y="2922376"/>
            <a:ext cx="4101131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spc="200">
                <a:solidFill>
                  <a:srgbClr val="595959"/>
                </a:solidFill>
                <a:latin typeface="Aptos SemiBold"/>
              </a:rPr>
              <a:t>CATCHES</a:t>
            </a:r>
          </a:p>
        </p:txBody>
      </p:sp>
      <p:sp>
        <p:nvSpPr>
          <p:cNvPr id="41" name="TxBox485">
            <a:extLst>
              <a:ext uri="{FF2B5EF4-FFF2-40B4-BE49-F238E27FC236}">
                <a16:creationId xmlns:a16="http://schemas.microsoft.com/office/drawing/2014/main" id="{52A2F5A0-8631-57EA-E99D-6BD837EDF6B3}"/>
              </a:ext>
            </a:extLst>
          </p:cNvPr>
          <p:cNvSpPr txBox="1"/>
          <p:nvPr/>
        </p:nvSpPr>
        <p:spPr>
          <a:xfrm>
            <a:off x="6755029" y="3282411"/>
            <a:ext cx="4101131" cy="4566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>
                <a:solidFill>
                  <a:srgbClr val="FFC000"/>
                </a:solidFill>
                <a:latin typeface="Aptos SemiBold"/>
              </a:rPr>
              <a:t>Obvious bugs</a:t>
            </a:r>
          </a:p>
        </p:txBody>
      </p:sp>
      <p:sp>
        <p:nvSpPr>
          <p:cNvPr id="42" name="Rect480">
            <a:extLst>
              <a:ext uri="{FF2B5EF4-FFF2-40B4-BE49-F238E27FC236}">
                <a16:creationId xmlns:a16="http://schemas.microsoft.com/office/drawing/2014/main" id="{2D43321D-CBC6-A711-8DD7-3DF87CCB5FE3}"/>
              </a:ext>
            </a:extLst>
          </p:cNvPr>
          <p:cNvSpPr/>
          <p:nvPr/>
        </p:nvSpPr>
        <p:spPr>
          <a:xfrm>
            <a:off x="1348001" y="4012862"/>
            <a:ext cx="4101131" cy="191812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square" anchor="ctr"/>
          <a:lstStyle/>
          <a:p>
            <a:endParaRPr lang="en-US" sz="2800"/>
          </a:p>
        </p:txBody>
      </p:sp>
      <p:sp>
        <p:nvSpPr>
          <p:cNvPr id="43" name="TxBox482">
            <a:extLst>
              <a:ext uri="{FF2B5EF4-FFF2-40B4-BE49-F238E27FC236}">
                <a16:creationId xmlns:a16="http://schemas.microsoft.com/office/drawing/2014/main" id="{CEA4D4C2-7F12-9F02-4299-42A1DC93901E}"/>
              </a:ext>
            </a:extLst>
          </p:cNvPr>
          <p:cNvSpPr txBox="1"/>
          <p:nvPr/>
        </p:nvSpPr>
        <p:spPr>
          <a:xfrm>
            <a:off x="1348001" y="4022170"/>
            <a:ext cx="4101131" cy="456698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anchor="ctr" anchorCtr="0"/>
          <a:lstStyle/>
          <a:p>
            <a:pPr algn="ctr">
              <a:buNone/>
            </a:pPr>
            <a:r>
              <a:rPr lang="en-US" sz="2800" b="1" spc="200">
                <a:solidFill>
                  <a:srgbClr val="FFFFFF"/>
                </a:solidFill>
                <a:latin typeface="Aptos SemiBold"/>
              </a:rPr>
              <a:t>BOUNDARY 03</a:t>
            </a:r>
          </a:p>
        </p:txBody>
      </p:sp>
      <p:sp>
        <p:nvSpPr>
          <p:cNvPr id="44" name="TxBox483">
            <a:extLst>
              <a:ext uri="{FF2B5EF4-FFF2-40B4-BE49-F238E27FC236}">
                <a16:creationId xmlns:a16="http://schemas.microsoft.com/office/drawing/2014/main" id="{61B62C15-49EE-C260-51BA-4B0B575A3C4D}"/>
              </a:ext>
            </a:extLst>
          </p:cNvPr>
          <p:cNvSpPr txBox="1"/>
          <p:nvPr/>
        </p:nvSpPr>
        <p:spPr>
          <a:xfrm>
            <a:off x="1348001" y="4528472"/>
            <a:ext cx="4101131" cy="454592"/>
          </a:xfrm>
          <a:prstGeom prst="rect">
            <a:avLst/>
          </a:prstGeom>
          <a:noFill/>
        </p:spPr>
        <p:txBody>
          <a:bodyPr wrap="square" lIns="100000" tIns="0" rIns="100000" bIns="0" anchor="ctr"/>
          <a:lstStyle/>
          <a:p>
            <a:pPr algn="ctr">
              <a:buNone/>
            </a:pPr>
            <a:r>
              <a:rPr lang="en-US" sz="2800" b="1">
                <a:solidFill>
                  <a:srgbClr val="1F1F1F"/>
                </a:solidFill>
                <a:latin typeface="Aptos SemiBold"/>
              </a:rPr>
              <a:t>Human review</a:t>
            </a:r>
          </a:p>
        </p:txBody>
      </p:sp>
      <p:sp>
        <p:nvSpPr>
          <p:cNvPr id="45" name="TxBox484">
            <a:extLst>
              <a:ext uri="{FF2B5EF4-FFF2-40B4-BE49-F238E27FC236}">
                <a16:creationId xmlns:a16="http://schemas.microsoft.com/office/drawing/2014/main" id="{9681A19A-2727-17BC-5BD2-AC220E16E6C5}"/>
              </a:ext>
            </a:extLst>
          </p:cNvPr>
          <p:cNvSpPr txBox="1"/>
          <p:nvPr/>
        </p:nvSpPr>
        <p:spPr>
          <a:xfrm>
            <a:off x="1348001" y="5060975"/>
            <a:ext cx="4101131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spc="200">
                <a:solidFill>
                  <a:srgbClr val="595959"/>
                </a:solidFill>
                <a:latin typeface="Aptos SemiBold"/>
              </a:rPr>
              <a:t>CATCHES</a:t>
            </a:r>
          </a:p>
        </p:txBody>
      </p:sp>
      <p:sp>
        <p:nvSpPr>
          <p:cNvPr id="46" name="TxBox485">
            <a:extLst>
              <a:ext uri="{FF2B5EF4-FFF2-40B4-BE49-F238E27FC236}">
                <a16:creationId xmlns:a16="http://schemas.microsoft.com/office/drawing/2014/main" id="{F5AC506D-ECF9-CB60-CDFE-5DA51A5F85D1}"/>
              </a:ext>
            </a:extLst>
          </p:cNvPr>
          <p:cNvSpPr txBox="1"/>
          <p:nvPr/>
        </p:nvSpPr>
        <p:spPr>
          <a:xfrm>
            <a:off x="1335842" y="5421010"/>
            <a:ext cx="4101131" cy="4566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>
                <a:solidFill>
                  <a:srgbClr val="FFC000"/>
                </a:solidFill>
                <a:latin typeface="Aptos SemiBold"/>
              </a:rPr>
              <a:t>Wrong fit</a:t>
            </a:r>
          </a:p>
        </p:txBody>
      </p:sp>
      <p:sp>
        <p:nvSpPr>
          <p:cNvPr id="47" name="Rect480">
            <a:extLst>
              <a:ext uri="{FF2B5EF4-FFF2-40B4-BE49-F238E27FC236}">
                <a16:creationId xmlns:a16="http://schemas.microsoft.com/office/drawing/2014/main" id="{81F397EA-DCB2-F58D-7ECE-8177C86FE61D}"/>
              </a:ext>
            </a:extLst>
          </p:cNvPr>
          <p:cNvSpPr/>
          <p:nvPr/>
        </p:nvSpPr>
        <p:spPr>
          <a:xfrm>
            <a:off x="6755029" y="4031431"/>
            <a:ext cx="4101131" cy="191812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square" anchor="ctr"/>
          <a:lstStyle/>
          <a:p>
            <a:endParaRPr lang="en-US" sz="2800"/>
          </a:p>
        </p:txBody>
      </p:sp>
      <p:sp>
        <p:nvSpPr>
          <p:cNvPr id="48" name="TxBox482">
            <a:extLst>
              <a:ext uri="{FF2B5EF4-FFF2-40B4-BE49-F238E27FC236}">
                <a16:creationId xmlns:a16="http://schemas.microsoft.com/office/drawing/2014/main" id="{C47C4C1B-7A4E-4009-171B-72E406D08771}"/>
              </a:ext>
            </a:extLst>
          </p:cNvPr>
          <p:cNvSpPr txBox="1"/>
          <p:nvPr/>
        </p:nvSpPr>
        <p:spPr>
          <a:xfrm>
            <a:off x="6755029" y="4040739"/>
            <a:ext cx="4101131" cy="456698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anchor="ctr" anchorCtr="0"/>
          <a:lstStyle/>
          <a:p>
            <a:pPr algn="ctr">
              <a:buNone/>
            </a:pPr>
            <a:r>
              <a:rPr lang="en-US" sz="2800" b="1" spc="200">
                <a:solidFill>
                  <a:srgbClr val="FFFFFF"/>
                </a:solidFill>
                <a:latin typeface="Aptos SemiBold"/>
              </a:rPr>
              <a:t>BOUNDARY 04</a:t>
            </a:r>
          </a:p>
        </p:txBody>
      </p:sp>
      <p:sp>
        <p:nvSpPr>
          <p:cNvPr id="49" name="TxBox483">
            <a:extLst>
              <a:ext uri="{FF2B5EF4-FFF2-40B4-BE49-F238E27FC236}">
                <a16:creationId xmlns:a16="http://schemas.microsoft.com/office/drawing/2014/main" id="{FF700CCC-B1F9-F9CA-8954-0E8D1FE00425}"/>
              </a:ext>
            </a:extLst>
          </p:cNvPr>
          <p:cNvSpPr txBox="1"/>
          <p:nvPr/>
        </p:nvSpPr>
        <p:spPr>
          <a:xfrm>
            <a:off x="6755029" y="4547041"/>
            <a:ext cx="4101131" cy="454592"/>
          </a:xfrm>
          <a:prstGeom prst="rect">
            <a:avLst/>
          </a:prstGeom>
          <a:noFill/>
        </p:spPr>
        <p:txBody>
          <a:bodyPr wrap="square" lIns="100000" tIns="0" rIns="100000" bIns="0" anchor="ctr"/>
          <a:lstStyle/>
          <a:p>
            <a:pPr algn="ctr">
              <a:buNone/>
            </a:pPr>
            <a:r>
              <a:rPr lang="en-US" sz="2800" b="1">
                <a:solidFill>
                  <a:srgbClr val="1F1F1F"/>
                </a:solidFill>
                <a:latin typeface="Aptos SemiBold"/>
              </a:rPr>
              <a:t>QA in test env</a:t>
            </a:r>
          </a:p>
        </p:txBody>
      </p:sp>
      <p:sp>
        <p:nvSpPr>
          <p:cNvPr id="50" name="TxBox484">
            <a:extLst>
              <a:ext uri="{FF2B5EF4-FFF2-40B4-BE49-F238E27FC236}">
                <a16:creationId xmlns:a16="http://schemas.microsoft.com/office/drawing/2014/main" id="{94AB1981-1F30-19DC-B629-B2502810FCDC}"/>
              </a:ext>
            </a:extLst>
          </p:cNvPr>
          <p:cNvSpPr txBox="1"/>
          <p:nvPr/>
        </p:nvSpPr>
        <p:spPr>
          <a:xfrm>
            <a:off x="6755029" y="5079544"/>
            <a:ext cx="4101131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spc="200">
                <a:solidFill>
                  <a:srgbClr val="595959"/>
                </a:solidFill>
                <a:latin typeface="Aptos SemiBold"/>
              </a:rPr>
              <a:t>CATCHES</a:t>
            </a:r>
          </a:p>
        </p:txBody>
      </p:sp>
      <p:sp>
        <p:nvSpPr>
          <p:cNvPr id="51" name="TxBox485">
            <a:extLst>
              <a:ext uri="{FF2B5EF4-FFF2-40B4-BE49-F238E27FC236}">
                <a16:creationId xmlns:a16="http://schemas.microsoft.com/office/drawing/2014/main" id="{88FD0119-4EEF-48A2-43C1-09E972906A55}"/>
              </a:ext>
            </a:extLst>
          </p:cNvPr>
          <p:cNvSpPr txBox="1"/>
          <p:nvPr/>
        </p:nvSpPr>
        <p:spPr>
          <a:xfrm>
            <a:off x="6742870" y="5439579"/>
            <a:ext cx="4101131" cy="4566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>
                <a:solidFill>
                  <a:srgbClr val="FFC000"/>
                </a:solidFill>
                <a:latin typeface="Aptos SemiBold"/>
              </a:rPr>
              <a:t>Systemic issues</a:t>
            </a:r>
          </a:p>
        </p:txBody>
      </p:sp>
    </p:spTree>
    <p:extLst>
      <p:ext uri="{BB962C8B-B14F-4D97-AF65-F5344CB8AC3E}">
        <p14:creationId xmlns:p14="http://schemas.microsoft.com/office/powerpoint/2010/main" val="3307994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11C8B-E5B8-7DA0-BC3F-A0F1B07F7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3D13F398-B105-481F-8B46-2FE814912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1F1F1F"/>
                </a:solidFill>
                <a:latin typeface="Aptos SemiBold"/>
              </a:rPr>
              <a:t>Documentation is now infrastructure</a:t>
            </a:r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1BD9FA39-21C9-079B-8D8B-73F11A534217}"/>
              </a:ext>
            </a:extLst>
          </p:cNvPr>
          <p:cNvSpPr txBox="1"/>
          <p:nvPr/>
        </p:nvSpPr>
        <p:spPr>
          <a:xfrm>
            <a:off x="838200" y="6137275"/>
            <a:ext cx="1051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i="1">
                <a:solidFill>
                  <a:srgbClr val="FDAD00"/>
                </a:solidFill>
              </a:rPr>
              <a:t>Neglecting docs compounds: every future AI task becomes worse.</a:t>
            </a:r>
          </a:p>
        </p:txBody>
      </p:sp>
      <p:sp>
        <p:nvSpPr>
          <p:cNvPr id="40" name="Zástupný obsah 5">
            <a:extLst>
              <a:ext uri="{FF2B5EF4-FFF2-40B4-BE49-F238E27FC236}">
                <a16:creationId xmlns:a16="http://schemas.microsoft.com/office/drawing/2014/main" id="{642B3B12-1B61-1DB1-2C9A-9FF22390B09D}"/>
              </a:ext>
            </a:extLst>
          </p:cNvPr>
          <p:cNvSpPr txBox="1">
            <a:spLocks/>
          </p:cNvSpPr>
          <p:nvPr/>
        </p:nvSpPr>
        <p:spPr>
          <a:xfrm>
            <a:off x="878840" y="1447510"/>
            <a:ext cx="10515600" cy="486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  <a:latin typeface="Aptos SemiBold"/>
              </a:rPr>
              <a:t>Principle 04</a:t>
            </a:r>
          </a:p>
        </p:txBody>
      </p:sp>
      <p:sp>
        <p:nvSpPr>
          <p:cNvPr id="4" name="TxBox550">
            <a:extLst>
              <a:ext uri="{FF2B5EF4-FFF2-40B4-BE49-F238E27FC236}">
                <a16:creationId xmlns:a16="http://schemas.microsoft.com/office/drawing/2014/main" id="{90FA2B89-5686-E9DB-BC50-0139E61F56FE}"/>
              </a:ext>
            </a:extLst>
          </p:cNvPr>
          <p:cNvSpPr txBox="1"/>
          <p:nvPr/>
        </p:nvSpPr>
        <p:spPr>
          <a:xfrm>
            <a:off x="838200" y="2050000"/>
            <a:ext cx="4900000" cy="3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spc="200">
                <a:solidFill>
                  <a:srgbClr val="595959"/>
                </a:solidFill>
                <a:latin typeface="Aptos SemiBold"/>
              </a:rPr>
              <a:t>OLD VIEW</a:t>
            </a:r>
          </a:p>
        </p:txBody>
      </p:sp>
      <p:sp>
        <p:nvSpPr>
          <p:cNvPr id="5" name="TxBox551">
            <a:extLst>
              <a:ext uri="{FF2B5EF4-FFF2-40B4-BE49-F238E27FC236}">
                <a16:creationId xmlns:a16="http://schemas.microsoft.com/office/drawing/2014/main" id="{978C60B0-5D0F-992A-20F1-79E58B6ECF52}"/>
              </a:ext>
            </a:extLst>
          </p:cNvPr>
          <p:cNvSpPr txBox="1"/>
          <p:nvPr/>
        </p:nvSpPr>
        <p:spPr>
          <a:xfrm>
            <a:off x="838200" y="2500000"/>
            <a:ext cx="49000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>
                <a:solidFill>
                  <a:srgbClr val="1F1F1F"/>
                </a:solidFill>
                <a:latin typeface="Aptos SemiBold"/>
              </a:rPr>
              <a:t>Documentation is overhead</a:t>
            </a:r>
          </a:p>
        </p:txBody>
      </p:sp>
      <p:sp>
        <p:nvSpPr>
          <p:cNvPr id="10" name="TxBox552">
            <a:extLst>
              <a:ext uri="{FF2B5EF4-FFF2-40B4-BE49-F238E27FC236}">
                <a16:creationId xmlns:a16="http://schemas.microsoft.com/office/drawing/2014/main" id="{005659F9-09C1-7A36-657C-7D34F0AEAC03}"/>
              </a:ext>
            </a:extLst>
          </p:cNvPr>
          <p:cNvSpPr txBox="1"/>
          <p:nvPr/>
        </p:nvSpPr>
        <p:spPr>
          <a:xfrm>
            <a:off x="838200" y="3100000"/>
            <a:ext cx="4900000" cy="2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•  Written if there’s time</a:t>
            </a:r>
          </a:p>
          <a:p>
            <a:pPr algn="l">
              <a:spcBef>
                <a:spcPts val="350"/>
              </a:spcBef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•  Drifts from code</a:t>
            </a:r>
          </a:p>
          <a:p>
            <a:pPr algn="l">
              <a:spcBef>
                <a:spcPts val="350"/>
              </a:spcBef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•  Nobody reads it</a:t>
            </a:r>
          </a:p>
          <a:p>
            <a:pPr algn="l">
              <a:spcBef>
                <a:spcPts val="350"/>
              </a:spcBef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•  First thing cut</a:t>
            </a:r>
          </a:p>
        </p:txBody>
      </p:sp>
      <p:sp>
        <p:nvSpPr>
          <p:cNvPr id="11" name="TxBox560">
            <a:extLst>
              <a:ext uri="{FF2B5EF4-FFF2-40B4-BE49-F238E27FC236}">
                <a16:creationId xmlns:a16="http://schemas.microsoft.com/office/drawing/2014/main" id="{50BDEEFE-4448-61D2-4897-B6646D12AA58}"/>
              </a:ext>
            </a:extLst>
          </p:cNvPr>
          <p:cNvSpPr txBox="1"/>
          <p:nvPr/>
        </p:nvSpPr>
        <p:spPr>
          <a:xfrm>
            <a:off x="5869459" y="2050000"/>
            <a:ext cx="5484341" cy="3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spc="200">
                <a:solidFill>
                  <a:srgbClr val="FDAD00"/>
                </a:solidFill>
                <a:latin typeface="Aptos SemiBold"/>
              </a:rPr>
              <a:t>NEW VIEW</a:t>
            </a:r>
          </a:p>
        </p:txBody>
      </p:sp>
      <p:sp>
        <p:nvSpPr>
          <p:cNvPr id="13" name="TxBox561">
            <a:extLst>
              <a:ext uri="{FF2B5EF4-FFF2-40B4-BE49-F238E27FC236}">
                <a16:creationId xmlns:a16="http://schemas.microsoft.com/office/drawing/2014/main" id="{C56B0293-DA2B-6B74-E3A6-F19285DB6C5D}"/>
              </a:ext>
            </a:extLst>
          </p:cNvPr>
          <p:cNvSpPr txBox="1"/>
          <p:nvPr/>
        </p:nvSpPr>
        <p:spPr>
          <a:xfrm>
            <a:off x="5869459" y="2500000"/>
            <a:ext cx="5484341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>
                <a:solidFill>
                  <a:srgbClr val="1F1F1F"/>
                </a:solidFill>
                <a:latin typeface="Aptos SemiBold"/>
              </a:rPr>
              <a:t>Documentation is AI’s working memory</a:t>
            </a:r>
          </a:p>
        </p:txBody>
      </p:sp>
      <p:sp>
        <p:nvSpPr>
          <p:cNvPr id="14" name="TxBox562">
            <a:extLst>
              <a:ext uri="{FF2B5EF4-FFF2-40B4-BE49-F238E27FC236}">
                <a16:creationId xmlns:a16="http://schemas.microsoft.com/office/drawing/2014/main" id="{8A009C9C-A42A-88EA-2281-AD6EE0D83E62}"/>
              </a:ext>
            </a:extLst>
          </p:cNvPr>
          <p:cNvSpPr txBox="1"/>
          <p:nvPr/>
        </p:nvSpPr>
        <p:spPr>
          <a:xfrm>
            <a:off x="5869459" y="3100000"/>
            <a:ext cx="5484341" cy="2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•  Agent’s instructions are read on every session</a:t>
            </a:r>
          </a:p>
          <a:p>
            <a:pPr algn="l">
              <a:spcBef>
                <a:spcPts val="350"/>
              </a:spcBef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•  Stale docs poison future AI work</a:t>
            </a:r>
          </a:p>
          <a:p>
            <a:pPr algn="l">
              <a:spcBef>
                <a:spcPts val="350"/>
              </a:spcBef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•  Updating it is a mandatory sub-issue</a:t>
            </a:r>
          </a:p>
          <a:p>
            <a:pPr>
              <a:spcBef>
                <a:spcPts val="350"/>
              </a:spcBef>
            </a:pPr>
            <a:r>
              <a:rPr lang="en-US" sz="2400">
                <a:solidFill>
                  <a:srgbClr val="1F1F1F"/>
                </a:solidFill>
                <a:latin typeface="Aptos"/>
              </a:rPr>
              <a:t>• </a:t>
            </a:r>
            <a:r>
              <a:rPr lang="en-US" sz="2400"/>
              <a:t>The effect compounds fast</a:t>
            </a:r>
            <a:endParaRPr lang="en-US" sz="2400">
              <a:solidFill>
                <a:srgbClr val="1F1F1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88505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79BFC-1564-D85C-4DDA-98A87A964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94C449B4-672A-8446-2237-4FE685B94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1F1F1F"/>
                </a:solidFill>
                <a:latin typeface="Aptos SemiBold"/>
              </a:rPr>
              <a:t>What changes for the people</a:t>
            </a:r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922D115E-C723-0B26-D5D2-D342F790FD49}"/>
              </a:ext>
            </a:extLst>
          </p:cNvPr>
          <p:cNvSpPr txBox="1"/>
          <p:nvPr/>
        </p:nvSpPr>
        <p:spPr>
          <a:xfrm>
            <a:off x="838200" y="6137275"/>
            <a:ext cx="1051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i="1">
                <a:solidFill>
                  <a:srgbClr val="FDAD00"/>
                </a:solidFill>
              </a:rPr>
              <a:t>Hiring, onboarding, and team structure all need to follow.</a:t>
            </a:r>
          </a:p>
        </p:txBody>
      </p:sp>
      <p:sp>
        <p:nvSpPr>
          <p:cNvPr id="40" name="Zástupný obsah 5">
            <a:extLst>
              <a:ext uri="{FF2B5EF4-FFF2-40B4-BE49-F238E27FC236}">
                <a16:creationId xmlns:a16="http://schemas.microsoft.com/office/drawing/2014/main" id="{AFBB6100-4E2D-DB34-D147-731CF531D0D7}"/>
              </a:ext>
            </a:extLst>
          </p:cNvPr>
          <p:cNvSpPr txBox="1">
            <a:spLocks/>
          </p:cNvSpPr>
          <p:nvPr/>
        </p:nvSpPr>
        <p:spPr>
          <a:xfrm>
            <a:off x="878840" y="1447510"/>
            <a:ext cx="10515600" cy="486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  <a:latin typeface="Aptos SemiBold"/>
              </a:rPr>
              <a:t>Principle 05  · Team shift</a:t>
            </a:r>
          </a:p>
        </p:txBody>
      </p:sp>
      <p:sp>
        <p:nvSpPr>
          <p:cNvPr id="8" name="TxBox583">
            <a:extLst>
              <a:ext uri="{FF2B5EF4-FFF2-40B4-BE49-F238E27FC236}">
                <a16:creationId xmlns:a16="http://schemas.microsoft.com/office/drawing/2014/main" id="{AD6CF8AC-5DC0-7B1B-672F-7F51C9D12BD8}"/>
              </a:ext>
            </a:extLst>
          </p:cNvPr>
          <p:cNvSpPr txBox="1"/>
          <p:nvPr/>
        </p:nvSpPr>
        <p:spPr>
          <a:xfrm>
            <a:off x="3338200" y="2016975"/>
            <a:ext cx="3900000" cy="5708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100000" rIns="0" bIns="0" anchor="t"/>
          <a:lstStyle/>
          <a:p>
            <a:pPr algn="ctr">
              <a:buNone/>
            </a:pPr>
            <a:r>
              <a:rPr lang="en-US" sz="2400" b="1" spc="200">
                <a:solidFill>
                  <a:srgbClr val="595959"/>
                </a:solidFill>
                <a:latin typeface="Aptos SemiBold"/>
              </a:rPr>
              <a:t>BEFORE</a:t>
            </a:r>
          </a:p>
        </p:txBody>
      </p:sp>
      <p:sp>
        <p:nvSpPr>
          <p:cNvPr id="9" name="TxBox584">
            <a:extLst>
              <a:ext uri="{FF2B5EF4-FFF2-40B4-BE49-F238E27FC236}">
                <a16:creationId xmlns:a16="http://schemas.microsoft.com/office/drawing/2014/main" id="{EB273038-721D-E676-34C8-84532FF0CC96}"/>
              </a:ext>
            </a:extLst>
          </p:cNvPr>
          <p:cNvSpPr txBox="1"/>
          <p:nvPr/>
        </p:nvSpPr>
        <p:spPr>
          <a:xfrm>
            <a:off x="7238200" y="2016975"/>
            <a:ext cx="4115600" cy="570811"/>
          </a:xfrm>
          <a:prstGeom prst="rect">
            <a:avLst/>
          </a:prstGeom>
          <a:solidFill>
            <a:srgbClr val="FFC000"/>
          </a:solidFill>
        </p:spPr>
        <p:txBody>
          <a:bodyPr wrap="square" lIns="0" tIns="100000" rIns="0" bIns="0" anchor="t"/>
          <a:lstStyle/>
          <a:p>
            <a:pPr algn="ctr">
              <a:buNone/>
            </a:pPr>
            <a:r>
              <a:rPr lang="en-US" sz="2400" b="1" spc="200">
                <a:solidFill>
                  <a:srgbClr val="FFFFFF"/>
                </a:solidFill>
                <a:latin typeface="Aptos SemiBold"/>
              </a:rPr>
              <a:t>AFTER</a:t>
            </a:r>
          </a:p>
        </p:txBody>
      </p:sp>
      <p:sp>
        <p:nvSpPr>
          <p:cNvPr id="16" name="TxBox586">
            <a:extLst>
              <a:ext uri="{FF2B5EF4-FFF2-40B4-BE49-F238E27FC236}">
                <a16:creationId xmlns:a16="http://schemas.microsoft.com/office/drawing/2014/main" id="{418A9C8D-CA7C-2787-E3C1-04494997FDCD}"/>
              </a:ext>
            </a:extLst>
          </p:cNvPr>
          <p:cNvSpPr txBox="1"/>
          <p:nvPr/>
        </p:nvSpPr>
        <p:spPr>
          <a:xfrm>
            <a:off x="838200" y="2604038"/>
            <a:ext cx="2500000" cy="114162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>
                <a:solidFill>
                  <a:srgbClr val="1F1F1F"/>
                </a:solidFill>
                <a:latin typeface="Aptos SemiBold"/>
              </a:rPr>
              <a:t>Senior engineer</a:t>
            </a:r>
          </a:p>
        </p:txBody>
      </p:sp>
      <p:sp>
        <p:nvSpPr>
          <p:cNvPr id="18" name="TxBox588">
            <a:extLst>
              <a:ext uri="{FF2B5EF4-FFF2-40B4-BE49-F238E27FC236}">
                <a16:creationId xmlns:a16="http://schemas.microsoft.com/office/drawing/2014/main" id="{E5BC09C2-9943-7F84-CAFE-9CD82B53BB44}"/>
              </a:ext>
            </a:extLst>
          </p:cNvPr>
          <p:cNvSpPr txBox="1"/>
          <p:nvPr/>
        </p:nvSpPr>
        <p:spPr>
          <a:xfrm>
            <a:off x="3338200" y="2602785"/>
            <a:ext cx="3900000" cy="11416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100000" tIns="0" rIns="100000" bIns="0" anchor="ctr"/>
          <a:lstStyle/>
          <a:p>
            <a:pPr algn="ctr"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Writes the hardest code</a:t>
            </a:r>
          </a:p>
        </p:txBody>
      </p:sp>
      <p:sp>
        <p:nvSpPr>
          <p:cNvPr id="20" name="TxBox590">
            <a:extLst>
              <a:ext uri="{FF2B5EF4-FFF2-40B4-BE49-F238E27FC236}">
                <a16:creationId xmlns:a16="http://schemas.microsoft.com/office/drawing/2014/main" id="{7E549B7B-9460-1A3F-1410-CE3303A7DAAA}"/>
              </a:ext>
            </a:extLst>
          </p:cNvPr>
          <p:cNvSpPr txBox="1"/>
          <p:nvPr/>
        </p:nvSpPr>
        <p:spPr>
          <a:xfrm>
            <a:off x="7238200" y="2587786"/>
            <a:ext cx="4115600" cy="1141622"/>
          </a:xfrm>
          <a:prstGeom prst="rect">
            <a:avLst/>
          </a:prstGeom>
          <a:solidFill>
            <a:srgbClr val="FFF6E1"/>
          </a:solidFill>
          <a:ln>
            <a:solidFill>
              <a:srgbClr val="FFC000"/>
            </a:solidFill>
          </a:ln>
        </p:spPr>
        <p:txBody>
          <a:bodyPr wrap="square" lIns="100000" tIns="0" rIns="100000" bIns="0" anchor="ctr"/>
          <a:lstStyle/>
          <a:p>
            <a:pPr algn="ctr">
              <a:buNone/>
            </a:pPr>
            <a:r>
              <a:rPr lang="en-US" sz="2400" b="1">
                <a:solidFill>
                  <a:srgbClr val="1F1F1F"/>
                </a:solidFill>
                <a:latin typeface="Aptos SemiBold"/>
              </a:rPr>
              <a:t>Designs the engineering process</a:t>
            </a:r>
          </a:p>
        </p:txBody>
      </p:sp>
      <p:sp>
        <p:nvSpPr>
          <p:cNvPr id="22" name="TxBox592">
            <a:extLst>
              <a:ext uri="{FF2B5EF4-FFF2-40B4-BE49-F238E27FC236}">
                <a16:creationId xmlns:a16="http://schemas.microsoft.com/office/drawing/2014/main" id="{242EE8A9-96E3-36A4-8AB2-CFA8686BE765}"/>
              </a:ext>
            </a:extLst>
          </p:cNvPr>
          <p:cNvSpPr txBox="1"/>
          <p:nvPr/>
        </p:nvSpPr>
        <p:spPr>
          <a:xfrm>
            <a:off x="838200" y="3724426"/>
            <a:ext cx="2500000" cy="114162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>
                <a:solidFill>
                  <a:srgbClr val="1F1F1F"/>
                </a:solidFill>
                <a:latin typeface="Aptos SemiBold"/>
              </a:rPr>
              <a:t>Mid-level</a:t>
            </a:r>
          </a:p>
        </p:txBody>
      </p:sp>
      <p:sp>
        <p:nvSpPr>
          <p:cNvPr id="24" name="TxBox594">
            <a:extLst>
              <a:ext uri="{FF2B5EF4-FFF2-40B4-BE49-F238E27FC236}">
                <a16:creationId xmlns:a16="http://schemas.microsoft.com/office/drawing/2014/main" id="{00F1B0D8-A623-E439-80E1-29A77C420293}"/>
              </a:ext>
            </a:extLst>
          </p:cNvPr>
          <p:cNvSpPr txBox="1"/>
          <p:nvPr/>
        </p:nvSpPr>
        <p:spPr>
          <a:xfrm>
            <a:off x="3338200" y="3703192"/>
            <a:ext cx="3900000" cy="11416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100000" tIns="0" rIns="100000" bIns="0" anchor="ctr"/>
          <a:lstStyle/>
          <a:p>
            <a:pPr algn="ctr"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Implements features</a:t>
            </a:r>
          </a:p>
        </p:txBody>
      </p:sp>
      <p:sp>
        <p:nvSpPr>
          <p:cNvPr id="26" name="TxBox596">
            <a:extLst>
              <a:ext uri="{FF2B5EF4-FFF2-40B4-BE49-F238E27FC236}">
                <a16:creationId xmlns:a16="http://schemas.microsoft.com/office/drawing/2014/main" id="{8ED79642-4C21-13DC-82FB-739BCEE32AD1}"/>
              </a:ext>
            </a:extLst>
          </p:cNvPr>
          <p:cNvSpPr txBox="1"/>
          <p:nvPr/>
        </p:nvSpPr>
        <p:spPr>
          <a:xfrm>
            <a:off x="7238200" y="3703192"/>
            <a:ext cx="4115600" cy="1141622"/>
          </a:xfrm>
          <a:prstGeom prst="rect">
            <a:avLst/>
          </a:prstGeom>
          <a:solidFill>
            <a:srgbClr val="FFF6E1"/>
          </a:solidFill>
          <a:ln>
            <a:solidFill>
              <a:srgbClr val="FFC000"/>
            </a:solidFill>
          </a:ln>
        </p:spPr>
        <p:txBody>
          <a:bodyPr wrap="square" lIns="100000" tIns="0" rIns="100000" bIns="0" anchor="ctr"/>
          <a:lstStyle/>
          <a:p>
            <a:pPr algn="ctr">
              <a:buNone/>
            </a:pPr>
            <a:r>
              <a:rPr lang="en-US" sz="2400" b="1">
                <a:solidFill>
                  <a:srgbClr val="1F1F1F"/>
                </a:solidFill>
                <a:latin typeface="Aptos SemiBold"/>
              </a:rPr>
              <a:t>Decomposes problems and reviews</a:t>
            </a:r>
          </a:p>
        </p:txBody>
      </p:sp>
      <p:sp>
        <p:nvSpPr>
          <p:cNvPr id="28" name="TxBox598">
            <a:extLst>
              <a:ext uri="{FF2B5EF4-FFF2-40B4-BE49-F238E27FC236}">
                <a16:creationId xmlns:a16="http://schemas.microsoft.com/office/drawing/2014/main" id="{14B13C3B-11D7-9971-FC87-75736A26BBB6}"/>
              </a:ext>
            </a:extLst>
          </p:cNvPr>
          <p:cNvSpPr txBox="1"/>
          <p:nvPr/>
        </p:nvSpPr>
        <p:spPr>
          <a:xfrm>
            <a:off x="838200" y="4855431"/>
            <a:ext cx="2500000" cy="114162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>
                <a:solidFill>
                  <a:srgbClr val="1F1F1F"/>
                </a:solidFill>
                <a:latin typeface="Aptos SemiBold"/>
              </a:rPr>
              <a:t>Junior</a:t>
            </a:r>
          </a:p>
        </p:txBody>
      </p:sp>
      <p:sp>
        <p:nvSpPr>
          <p:cNvPr id="30" name="TxBox600">
            <a:extLst>
              <a:ext uri="{FF2B5EF4-FFF2-40B4-BE49-F238E27FC236}">
                <a16:creationId xmlns:a16="http://schemas.microsoft.com/office/drawing/2014/main" id="{B7E1FA31-EAF4-4E59-BDE1-6EFDACF9043D}"/>
              </a:ext>
            </a:extLst>
          </p:cNvPr>
          <p:cNvSpPr txBox="1"/>
          <p:nvPr/>
        </p:nvSpPr>
        <p:spPr>
          <a:xfrm>
            <a:off x="3338200" y="4844814"/>
            <a:ext cx="3900000" cy="11416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100000" tIns="0" rIns="100000" bIns="0" anchor="ctr"/>
          <a:lstStyle/>
          <a:p>
            <a:pPr algn="ctr">
              <a:buNone/>
            </a:pPr>
            <a:r>
              <a:rPr lang="en-US" sz="2400">
                <a:solidFill>
                  <a:srgbClr val="1F1F1F"/>
                </a:solidFill>
                <a:latin typeface="Aptos"/>
              </a:rPr>
              <a:t>Learns by writing code</a:t>
            </a:r>
          </a:p>
        </p:txBody>
      </p:sp>
      <p:sp>
        <p:nvSpPr>
          <p:cNvPr id="32" name="TxBox602">
            <a:extLst>
              <a:ext uri="{FF2B5EF4-FFF2-40B4-BE49-F238E27FC236}">
                <a16:creationId xmlns:a16="http://schemas.microsoft.com/office/drawing/2014/main" id="{0A74EB08-8721-845C-1CC9-10B30BF3C54F}"/>
              </a:ext>
            </a:extLst>
          </p:cNvPr>
          <p:cNvSpPr txBox="1"/>
          <p:nvPr/>
        </p:nvSpPr>
        <p:spPr>
          <a:xfrm>
            <a:off x="7238200" y="4844814"/>
            <a:ext cx="4115600" cy="1141622"/>
          </a:xfrm>
          <a:prstGeom prst="rect">
            <a:avLst/>
          </a:prstGeom>
          <a:solidFill>
            <a:srgbClr val="FFF6E1"/>
          </a:solidFill>
          <a:ln>
            <a:solidFill>
              <a:srgbClr val="FFC000"/>
            </a:solidFill>
          </a:ln>
        </p:spPr>
        <p:txBody>
          <a:bodyPr wrap="square" lIns="100000" tIns="0" rIns="100000" bIns="0" anchor="ctr"/>
          <a:lstStyle/>
          <a:p>
            <a:pPr algn="ctr">
              <a:buNone/>
            </a:pPr>
            <a:r>
              <a:rPr lang="en-US" sz="2400" b="1">
                <a:solidFill>
                  <a:srgbClr val="1F1F1F"/>
                </a:solidFill>
                <a:latin typeface="Aptos SemiBold"/>
              </a:rPr>
              <a:t>Learns by structuring and reviewing earlier</a:t>
            </a:r>
          </a:p>
        </p:txBody>
      </p:sp>
    </p:spTree>
    <p:extLst>
      <p:ext uri="{BB962C8B-B14F-4D97-AF65-F5344CB8AC3E}">
        <p14:creationId xmlns:p14="http://schemas.microsoft.com/office/powerpoint/2010/main" val="4071615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42AC8-4D34-3C06-E989-888092960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5738F84-9389-6BA1-EA3A-829FA0B72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1F1F1F"/>
                </a:solidFill>
                <a:latin typeface="Aptos SemiBold"/>
              </a:rPr>
              <a:t>The real shift</a:t>
            </a:r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766779A9-FCE4-CC23-CDF7-0467687AE434}"/>
              </a:ext>
            </a:extLst>
          </p:cNvPr>
          <p:cNvSpPr txBox="1"/>
          <p:nvPr/>
        </p:nvSpPr>
        <p:spPr>
          <a:xfrm>
            <a:off x="838200" y="6137275"/>
            <a:ext cx="1051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i="1">
                <a:solidFill>
                  <a:srgbClr val="FDAD00"/>
                </a:solidFill>
              </a:rPr>
              <a:t>Both can be fast. Only one is sustainable.</a:t>
            </a:r>
          </a:p>
        </p:txBody>
      </p:sp>
      <p:sp>
        <p:nvSpPr>
          <p:cNvPr id="40" name="Zástupný obsah 5">
            <a:extLst>
              <a:ext uri="{FF2B5EF4-FFF2-40B4-BE49-F238E27FC236}">
                <a16:creationId xmlns:a16="http://schemas.microsoft.com/office/drawing/2014/main" id="{0E7005B4-D407-2B88-5EBE-7C36D68B6948}"/>
              </a:ext>
            </a:extLst>
          </p:cNvPr>
          <p:cNvSpPr txBox="1">
            <a:spLocks/>
          </p:cNvSpPr>
          <p:nvPr/>
        </p:nvSpPr>
        <p:spPr>
          <a:xfrm>
            <a:off x="878840" y="1447510"/>
            <a:ext cx="10515600" cy="486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  <a:latin typeface="Aptos SemiBold"/>
              </a:rPr>
              <a:t>CLOSING</a:t>
            </a:r>
          </a:p>
        </p:txBody>
      </p:sp>
      <p:sp>
        <p:nvSpPr>
          <p:cNvPr id="3" name="Rect620">
            <a:extLst>
              <a:ext uri="{FF2B5EF4-FFF2-40B4-BE49-F238E27FC236}">
                <a16:creationId xmlns:a16="http://schemas.microsoft.com/office/drawing/2014/main" id="{75DD8A09-8766-3E29-56C7-DC616B425032}"/>
              </a:ext>
            </a:extLst>
          </p:cNvPr>
          <p:cNvSpPr/>
          <p:nvPr/>
        </p:nvSpPr>
        <p:spPr>
          <a:xfrm>
            <a:off x="838200" y="2050000"/>
            <a:ext cx="4900000" cy="30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/>
          <a:lstStyle/>
          <a:p>
            <a:endParaRPr lang="en-US" sz="2400"/>
          </a:p>
        </p:txBody>
      </p:sp>
      <p:sp>
        <p:nvSpPr>
          <p:cNvPr id="4" name="TxBox621">
            <a:extLst>
              <a:ext uri="{FF2B5EF4-FFF2-40B4-BE49-F238E27FC236}">
                <a16:creationId xmlns:a16="http://schemas.microsoft.com/office/drawing/2014/main" id="{EC3F218F-7159-080D-07E5-5C634073DDB0}"/>
              </a:ext>
            </a:extLst>
          </p:cNvPr>
          <p:cNvSpPr txBox="1"/>
          <p:nvPr/>
        </p:nvSpPr>
        <p:spPr>
          <a:xfrm>
            <a:off x="838200" y="2250000"/>
            <a:ext cx="4900000" cy="3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1" spc="300">
                <a:solidFill>
                  <a:srgbClr val="595959"/>
                </a:solidFill>
                <a:latin typeface="Aptos SemiBold"/>
              </a:rPr>
              <a:t>VIBECODING</a:t>
            </a:r>
          </a:p>
        </p:txBody>
      </p:sp>
      <p:sp>
        <p:nvSpPr>
          <p:cNvPr id="5" name="TxBox622">
            <a:extLst>
              <a:ext uri="{FF2B5EF4-FFF2-40B4-BE49-F238E27FC236}">
                <a16:creationId xmlns:a16="http://schemas.microsoft.com/office/drawing/2014/main" id="{A2129CF3-80DB-1BF1-EA4E-3C477F57925C}"/>
              </a:ext>
            </a:extLst>
          </p:cNvPr>
          <p:cNvSpPr txBox="1"/>
          <p:nvPr/>
        </p:nvSpPr>
        <p:spPr>
          <a:xfrm>
            <a:off x="1038200" y="2750000"/>
            <a:ext cx="450000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1">
                <a:solidFill>
                  <a:srgbClr val="1F1F1F"/>
                </a:solidFill>
                <a:latin typeface="Aptos SemiBold"/>
              </a:rPr>
              <a:t>Optimizes for speed in the small</a:t>
            </a:r>
          </a:p>
        </p:txBody>
      </p:sp>
      <p:sp>
        <p:nvSpPr>
          <p:cNvPr id="6" name="TxBox623">
            <a:extLst>
              <a:ext uri="{FF2B5EF4-FFF2-40B4-BE49-F238E27FC236}">
                <a16:creationId xmlns:a16="http://schemas.microsoft.com/office/drawing/2014/main" id="{63C8EF19-20C5-A1A5-6595-1A84E66BAACF}"/>
              </a:ext>
            </a:extLst>
          </p:cNvPr>
          <p:cNvSpPr txBox="1"/>
          <p:nvPr/>
        </p:nvSpPr>
        <p:spPr>
          <a:xfrm>
            <a:off x="1038200" y="3550000"/>
            <a:ext cx="4500000" cy="1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i="1">
                <a:solidFill>
                  <a:srgbClr val="595959"/>
                </a:solidFill>
                <a:latin typeface="Aptos"/>
              </a:rPr>
              <a:t>Faster prompts, faster snippets, faster demos. Wins the morning, loses the year.</a:t>
            </a:r>
          </a:p>
        </p:txBody>
      </p:sp>
      <p:sp>
        <p:nvSpPr>
          <p:cNvPr id="7" name="Rect630">
            <a:extLst>
              <a:ext uri="{FF2B5EF4-FFF2-40B4-BE49-F238E27FC236}">
                <a16:creationId xmlns:a16="http://schemas.microsoft.com/office/drawing/2014/main" id="{A06DED19-B731-F43D-2A15-53F149CA74D0}"/>
              </a:ext>
            </a:extLst>
          </p:cNvPr>
          <p:cNvSpPr/>
          <p:nvPr/>
        </p:nvSpPr>
        <p:spPr>
          <a:xfrm>
            <a:off x="6453800" y="2050000"/>
            <a:ext cx="4900000" cy="3000000"/>
          </a:xfrm>
          <a:prstGeom prst="rect">
            <a:avLst/>
          </a:prstGeom>
          <a:solidFill>
            <a:srgbClr val="FFF6E0"/>
          </a:solidFill>
          <a:ln w="12700">
            <a:solidFill>
              <a:srgbClr val="FDAD00"/>
            </a:solidFill>
          </a:ln>
        </p:spPr>
        <p:txBody>
          <a:bodyPr wrap="square"/>
          <a:lstStyle/>
          <a:p>
            <a:endParaRPr lang="en-US" sz="2400"/>
          </a:p>
        </p:txBody>
      </p:sp>
      <p:sp>
        <p:nvSpPr>
          <p:cNvPr id="10" name="TxBox631">
            <a:extLst>
              <a:ext uri="{FF2B5EF4-FFF2-40B4-BE49-F238E27FC236}">
                <a16:creationId xmlns:a16="http://schemas.microsoft.com/office/drawing/2014/main" id="{FB0A7FDD-C841-3423-70FC-126F2BE27A9F}"/>
              </a:ext>
            </a:extLst>
          </p:cNvPr>
          <p:cNvSpPr txBox="1"/>
          <p:nvPr/>
        </p:nvSpPr>
        <p:spPr>
          <a:xfrm>
            <a:off x="6453800" y="2250000"/>
            <a:ext cx="4900000" cy="3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1" spc="300">
                <a:solidFill>
                  <a:srgbClr val="FDAD00"/>
                </a:solidFill>
                <a:latin typeface="Aptos SemiBold"/>
              </a:rPr>
              <a:t>ENGINEERING WITH AI</a:t>
            </a:r>
          </a:p>
        </p:txBody>
      </p:sp>
      <p:sp>
        <p:nvSpPr>
          <p:cNvPr id="11" name="TxBox632">
            <a:extLst>
              <a:ext uri="{FF2B5EF4-FFF2-40B4-BE49-F238E27FC236}">
                <a16:creationId xmlns:a16="http://schemas.microsoft.com/office/drawing/2014/main" id="{3EBAEF62-F2F6-0453-4DF4-8610913F3F7F}"/>
              </a:ext>
            </a:extLst>
          </p:cNvPr>
          <p:cNvSpPr txBox="1"/>
          <p:nvPr/>
        </p:nvSpPr>
        <p:spPr>
          <a:xfrm>
            <a:off x="6653800" y="2750000"/>
            <a:ext cx="450000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1">
                <a:solidFill>
                  <a:srgbClr val="1F1F1F"/>
                </a:solidFill>
                <a:latin typeface="Aptos SemiBold"/>
              </a:rPr>
              <a:t>Optimizes for delivery in the large</a:t>
            </a:r>
          </a:p>
        </p:txBody>
      </p:sp>
      <p:sp>
        <p:nvSpPr>
          <p:cNvPr id="13" name="TxBox633">
            <a:extLst>
              <a:ext uri="{FF2B5EF4-FFF2-40B4-BE49-F238E27FC236}">
                <a16:creationId xmlns:a16="http://schemas.microsoft.com/office/drawing/2014/main" id="{47737979-F441-A3F3-52AB-35F7EC0A5F9E}"/>
              </a:ext>
            </a:extLst>
          </p:cNvPr>
          <p:cNvSpPr txBox="1"/>
          <p:nvPr/>
        </p:nvSpPr>
        <p:spPr>
          <a:xfrm>
            <a:off x="6653800" y="3550000"/>
            <a:ext cx="4500000" cy="1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i="1">
                <a:solidFill>
                  <a:srgbClr val="1F1F1F"/>
                </a:solidFill>
                <a:latin typeface="Aptos"/>
              </a:rPr>
              <a:t>Same AI, different process. Compounds month over month. Survives team turnover.</a:t>
            </a:r>
          </a:p>
        </p:txBody>
      </p:sp>
    </p:spTree>
    <p:extLst>
      <p:ext uri="{BB962C8B-B14F-4D97-AF65-F5344CB8AC3E}">
        <p14:creationId xmlns:p14="http://schemas.microsoft.com/office/powerpoint/2010/main" val="3494508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4E8F06FA-7779-CB41-6751-CE4E92F59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9556" y="2395649"/>
            <a:ext cx="5349632" cy="1944084"/>
          </a:xfrm>
        </p:spPr>
        <p:txBody>
          <a:bodyPr/>
          <a:lstStyle/>
          <a:p>
            <a:r>
              <a:rPr lang="en-US"/>
              <a:t>Thank you </a:t>
            </a:r>
            <a:br>
              <a:rPr lang="en-US"/>
            </a:br>
            <a:r>
              <a:rPr lang="en-US"/>
              <a:t>for listening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333AEB48-0CCB-17D7-6903-BEA439CC58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8" name="Zástupný text 7">
            <a:extLst>
              <a:ext uri="{FF2B5EF4-FFF2-40B4-BE49-F238E27FC236}">
                <a16:creationId xmlns:a16="http://schemas.microsoft.com/office/drawing/2014/main" id="{9B5986BB-30E1-91CE-9B7C-CD0ACD8C2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Jan Ducháček</a:t>
            </a:r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FF06DB95-F63A-B8A8-5BF0-3EBA2DE9F6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err="1"/>
              <a:t>duchacekjan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43E5D1-DF11-E1E9-CD41-E16168619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90" y="5236418"/>
            <a:ext cx="374904" cy="37490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4711B6D-1709-75B6-60EA-6407E715C8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3169" y="5123182"/>
            <a:ext cx="922043" cy="48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91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1732D9-7A77-428C-E616-A8658CCD2F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960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10185</TotalTime>
  <Words>1180</Words>
  <Application>Microsoft Macintosh PowerPoint</Application>
  <PresentationFormat>Widescreen</PresentationFormat>
  <Paragraphs>291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Aptos SemiBold</vt:lpstr>
      <vt:lpstr>Arial</vt:lpstr>
      <vt:lpstr>Office Theme</vt:lpstr>
      <vt:lpstr>Beyond Vibecoding</vt:lpstr>
      <vt:lpstr>What we’ll cover</vt:lpstr>
      <vt:lpstr>The Vibecoding Trap</vt:lpstr>
      <vt:lpstr>AI 10x’d the cheap part</vt:lpstr>
      <vt:lpstr>PowerPoint Presentation</vt:lpstr>
      <vt:lpstr>PowerPoint Presentation</vt:lpstr>
      <vt:lpstr>Seven stages, seven artifacts</vt:lpstr>
      <vt:lpstr>From vague requirement to clarity</vt:lpstr>
      <vt:lpstr>PowerPoint Presentation</vt:lpstr>
      <vt:lpstr>Approval as an engineering step</vt:lpstr>
      <vt:lpstr>From ADR to linked issues</vt:lpstr>
      <vt:lpstr>Commit often, trust more</vt:lpstr>
      <vt:lpstr>Beyond automated tests</vt:lpstr>
      <vt:lpstr>Layered review by design</vt:lpstr>
      <vt:lpstr>Merge, ship, and close the loop</vt:lpstr>
      <vt:lpstr>PowerPoint Presentation</vt:lpstr>
      <vt:lpstr>PowerPoint Presentation</vt:lpstr>
      <vt:lpstr>Artifacts over conversations</vt:lpstr>
      <vt:lpstr>Decomposition is the skill</vt:lpstr>
      <vt:lpstr>Verification at every boundary</vt:lpstr>
      <vt:lpstr>Documentation is now infrastructure</vt:lpstr>
      <vt:lpstr>What changes for the people</vt:lpstr>
      <vt:lpstr>The real shift</vt:lpstr>
      <vt:lpstr>Thank you  for listening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Vibecoding</dc:title>
  <dc:creator>Jan Ducháček</dc:creator>
  <cp:lastModifiedBy>Jan Ducháček</cp:lastModifiedBy>
  <cp:revision>101</cp:revision>
  <dcterms:created xsi:type="dcterms:W3CDTF">2026-05-16T17:35:38Z</dcterms:created>
  <dcterms:modified xsi:type="dcterms:W3CDTF">2026-05-29T04:04:38Z</dcterms:modified>
</cp:coreProperties>
</file>